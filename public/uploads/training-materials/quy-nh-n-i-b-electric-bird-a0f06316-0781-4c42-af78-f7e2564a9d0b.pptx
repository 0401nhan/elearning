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71" r:id="rId12"/>
    <p:sldId id="265" r:id="rId13"/>
    <p:sldId id="266" r:id="rId14"/>
    <p:sldId id="272" r:id="rId15"/>
    <p:sldId id="273" r:id="rId16"/>
    <p:sldId id="268" r:id="rId17"/>
  </p:sldIdLst>
  <p:sldSz cx="12192000" cy="6858000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Neue Einstellung" panose="020B0604020202020204" charset="0"/>
      <p:regular r:id="rId23"/>
      <p:bold r:id="rId24"/>
    </p:embeddedFont>
    <p:embeddedFont>
      <p:font typeface="Open Sans" panose="020B0606030504020204" pitchFamily="3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2B46BA-BB9A-4C33-83FE-715A8171F38A}">
  <a:tblStyle styleId="{EA2B46BA-BB9A-4C33-83FE-715A8171F38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viewProps" Target="viewProps.xml"/><Relationship Id="rId35" Type="http://schemas.openxmlformats.org/officeDocument/2006/relationships/customXml" Target="../customXml/item2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 Hien" userId="ccaafa9a5e3471f6" providerId="LiveId" clId="{A51E6204-5C5E-4DE7-B0B8-A4325F01A206}"/>
    <pc:docChg chg="modSld">
      <pc:chgData name="Ho Hien" userId="ccaafa9a5e3471f6" providerId="LiveId" clId="{A51E6204-5C5E-4DE7-B0B8-A4325F01A206}" dt="2026-04-23T01:48:18.607" v="1" actId="20577"/>
      <pc:docMkLst>
        <pc:docMk/>
      </pc:docMkLst>
      <pc:sldChg chg="modSp mod">
        <pc:chgData name="Ho Hien" userId="ccaafa9a5e3471f6" providerId="LiveId" clId="{A51E6204-5C5E-4DE7-B0B8-A4325F01A206}" dt="2026-04-23T01:48:18.607" v="1" actId="20577"/>
        <pc:sldMkLst>
          <pc:docMk/>
          <pc:sldMk cId="0" sldId="262"/>
        </pc:sldMkLst>
        <pc:spChg chg="mod">
          <ac:chgData name="Ho Hien" userId="ccaafa9a5e3471f6" providerId="LiveId" clId="{A51E6204-5C5E-4DE7-B0B8-A4325F01A206}" dt="2026-04-23T01:48:18.607" v="1" actId="20577"/>
          <ac:spMkLst>
            <pc:docMk/>
            <pc:sldMk cId="0" sldId="262"/>
            <ac:spMk id="22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4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4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3.png"/><Relationship Id="rId4" Type="http://schemas.openxmlformats.org/officeDocument/2006/relationships/image" Target="../media/image18.pn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4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3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image" Target="../media/image4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jp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3.png"/><Relationship Id="rId5" Type="http://schemas.openxmlformats.org/officeDocument/2006/relationships/image" Target="../media/image43.png"/><Relationship Id="rId10" Type="http://schemas.openxmlformats.org/officeDocument/2006/relationships/image" Target="../media/image11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4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85750" y="1921371"/>
            <a:ext cx="11779250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FFFFFF"/>
                </a:solidFill>
                <a:latin typeface="+mn-lt"/>
                <a:ea typeface="Montserrat"/>
                <a:cs typeface="Montserrat"/>
                <a:sym typeface="Montserrat"/>
              </a:rPr>
              <a:t>CÔNG TY TNHH</a:t>
            </a:r>
            <a:r>
              <a:rPr lang="en-US" sz="600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 </a:t>
            </a:r>
            <a:r>
              <a:rPr lang="en-US" sz="6000" b="1" i="0" u="none" strike="noStrike" cap="none" dirty="0">
                <a:solidFill>
                  <a:srgbClr val="FFFFFF"/>
                </a:solidFill>
                <a:latin typeface="+mn-lt"/>
                <a:ea typeface="Montserrat"/>
                <a:cs typeface="Montserrat"/>
                <a:sym typeface="Montserrat"/>
              </a:rPr>
              <a:t>CÔNG NGHỆ 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FFFFFF"/>
                </a:solidFill>
                <a:latin typeface="+mn-lt"/>
                <a:ea typeface="Montserrat"/>
                <a:cs typeface="Montserrat"/>
                <a:sym typeface="Montserrat"/>
              </a:rPr>
              <a:t>CAO</a:t>
            </a:r>
            <a:r>
              <a:rPr lang="en-US" sz="600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 </a:t>
            </a:r>
            <a:r>
              <a:rPr lang="en-US" sz="6000" b="1" i="0" u="none" strike="noStrike" cap="none" dirty="0">
                <a:solidFill>
                  <a:srgbClr val="FFFFFF"/>
                </a:solidFill>
                <a:latin typeface="+mn-lt"/>
                <a:ea typeface="Montserrat"/>
                <a:cs typeface="Montserrat"/>
                <a:sym typeface="Montserrat"/>
              </a:rPr>
              <a:t>ELECTRIC BIRD</a:t>
            </a:r>
            <a:endParaRPr sz="6000" dirty="0">
              <a:latin typeface="+mn-lt"/>
            </a:endParaRPr>
          </a:p>
        </p:txBody>
      </p:sp>
      <p:pic>
        <p:nvPicPr>
          <p:cNvPr id="87" name="Google Shape;87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57500" y="4730253"/>
            <a:ext cx="5438775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3974AFB-08B8-227E-351D-5795ECB05A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6058" y="-25510"/>
            <a:ext cx="1350392" cy="13472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0" y="-22741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62225"/>
            <a:ext cx="2619375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81375" y="2562225"/>
            <a:ext cx="2619375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2562225"/>
            <a:ext cx="2619375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01125" y="2562225"/>
            <a:ext cx="2619375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895725"/>
            <a:ext cx="2619375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00425" y="3948944"/>
            <a:ext cx="2619375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3895725"/>
            <a:ext cx="2619375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762000" y="2752725"/>
            <a:ext cx="22383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ECEFF1"/>
                </a:solidFill>
                <a:latin typeface="+mn-lt"/>
                <a:ea typeface="Montserrat ExtraBold"/>
                <a:cs typeface="Montserrat ExtraBold"/>
                <a:sym typeface="Montserrat ExtraBold"/>
              </a:rPr>
              <a:t>01</a:t>
            </a:r>
            <a:endParaRPr dirty="0">
              <a:latin typeface="+mn-lt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1243012" y="3267075"/>
            <a:ext cx="127635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455A64"/>
                </a:solidFill>
                <a:latin typeface="+mn-lt"/>
                <a:ea typeface="Open Sans"/>
                <a:cs typeface="Open Sans"/>
                <a:sym typeface="Open Sans"/>
              </a:rPr>
              <a:t>Phạm vi </a:t>
            </a:r>
            <a:r>
              <a:rPr lang="en-US" sz="1200" b="1" i="0" u="none" strike="noStrike" cap="none" dirty="0" err="1">
                <a:solidFill>
                  <a:srgbClr val="455A64"/>
                </a:solidFill>
                <a:latin typeface="+mn-lt"/>
                <a:ea typeface="Open Sans"/>
                <a:cs typeface="Open Sans"/>
                <a:sym typeface="Open Sans"/>
              </a:rPr>
              <a:t>áp</a:t>
            </a:r>
            <a:r>
              <a:rPr lang="en-US" sz="1200" b="1" i="0" u="none" strike="noStrike" cap="none" dirty="0">
                <a:solidFill>
                  <a:srgbClr val="455A64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200" b="1" i="0" u="none" strike="noStrike" cap="none" dirty="0" err="1">
                <a:solidFill>
                  <a:srgbClr val="455A64"/>
                </a:solidFill>
                <a:latin typeface="+mn-lt"/>
                <a:ea typeface="Open Sans"/>
                <a:cs typeface="Open Sans"/>
                <a:sym typeface="Open Sans"/>
              </a:rPr>
              <a:t>dụng</a:t>
            </a:r>
            <a:endParaRPr dirty="0">
              <a:latin typeface="+mn-lt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3571875" y="2752725"/>
            <a:ext cx="22383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ECEFF1"/>
                </a:solidFill>
                <a:latin typeface="+mn-lt"/>
                <a:ea typeface="Montserrat ExtraBold"/>
                <a:cs typeface="Montserrat ExtraBold"/>
                <a:sym typeface="Montserrat ExtraBold"/>
              </a:rPr>
              <a:t>02</a:t>
            </a:r>
            <a:endParaRPr>
              <a:latin typeface="+mn-lt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4000500" y="3267075"/>
            <a:ext cx="138112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455A64"/>
                </a:solidFill>
                <a:latin typeface="+mn-lt"/>
                <a:ea typeface="Open Sans"/>
                <a:cs typeface="Open Sans"/>
                <a:sym typeface="Open Sans"/>
              </a:rPr>
              <a:t>Thời</a:t>
            </a:r>
            <a:r>
              <a:rPr lang="en-US" sz="1200" b="1" i="0" u="none" strike="noStrike" cap="none" dirty="0">
                <a:solidFill>
                  <a:srgbClr val="455A64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200" b="1" i="0" u="none" strike="noStrike" cap="none" dirty="0" err="1">
                <a:solidFill>
                  <a:srgbClr val="455A64"/>
                </a:solidFill>
                <a:latin typeface="+mn-lt"/>
                <a:ea typeface="Open Sans"/>
                <a:cs typeface="Open Sans"/>
                <a:sym typeface="Open Sans"/>
              </a:rPr>
              <a:t>gian</a:t>
            </a:r>
            <a:r>
              <a:rPr lang="en-US" sz="1200" b="1" i="0" u="none" strike="noStrike" cap="none" dirty="0">
                <a:solidFill>
                  <a:srgbClr val="455A64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200" b="1" i="0" u="none" strike="noStrike" cap="none" dirty="0" err="1">
                <a:solidFill>
                  <a:srgbClr val="455A64"/>
                </a:solidFill>
                <a:latin typeface="+mn-lt"/>
                <a:ea typeface="Open Sans"/>
                <a:cs typeface="Open Sans"/>
                <a:sym typeface="Open Sans"/>
              </a:rPr>
              <a:t>làm</a:t>
            </a:r>
            <a:r>
              <a:rPr lang="en-US" sz="1200" b="1" i="0" u="none" strike="noStrike" cap="none" dirty="0">
                <a:solidFill>
                  <a:srgbClr val="455A64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200" b="1" i="0" u="none" strike="noStrike" cap="none" dirty="0" err="1">
                <a:solidFill>
                  <a:srgbClr val="455A64"/>
                </a:solidFill>
                <a:latin typeface="+mn-lt"/>
                <a:ea typeface="Open Sans"/>
                <a:cs typeface="Open Sans"/>
                <a:sym typeface="Open Sans"/>
              </a:rPr>
              <a:t>việc</a:t>
            </a:r>
            <a:endParaRPr dirty="0">
              <a:latin typeface="+mn-lt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6381750" y="2752725"/>
            <a:ext cx="22383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ECEFF1"/>
                </a:solidFill>
                <a:latin typeface="+mn-lt"/>
                <a:ea typeface="Montserrat ExtraBold"/>
                <a:cs typeface="Montserrat ExtraBold"/>
                <a:sym typeface="Montserrat ExtraBold"/>
              </a:rPr>
              <a:t>03</a:t>
            </a:r>
            <a:endParaRPr>
              <a:latin typeface="+mn-lt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6891337" y="3267075"/>
            <a:ext cx="12192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455A64"/>
                </a:solidFill>
                <a:latin typeface="+mn-lt"/>
                <a:ea typeface="Open Sans"/>
                <a:cs typeface="Open Sans"/>
                <a:sym typeface="Open Sans"/>
              </a:rPr>
              <a:t>Quy </a:t>
            </a:r>
            <a:r>
              <a:rPr lang="en-US" sz="1200" b="1" i="0" u="none" strike="noStrike" cap="none" dirty="0" err="1">
                <a:solidFill>
                  <a:srgbClr val="455A64"/>
                </a:solidFill>
                <a:latin typeface="+mn-lt"/>
                <a:ea typeface="Open Sans"/>
                <a:cs typeface="Open Sans"/>
                <a:sym typeface="Open Sans"/>
              </a:rPr>
              <a:t>định</a:t>
            </a:r>
            <a:r>
              <a:rPr lang="en-US" sz="1200" b="1" i="0" u="none" strike="noStrike" cap="none" dirty="0">
                <a:solidFill>
                  <a:srgbClr val="455A64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200" b="1" i="0" u="none" strike="noStrike" cap="none" dirty="0" err="1">
                <a:solidFill>
                  <a:srgbClr val="455A64"/>
                </a:solidFill>
                <a:latin typeface="+mn-lt"/>
                <a:ea typeface="Open Sans"/>
                <a:cs typeface="Open Sans"/>
                <a:sym typeface="Open Sans"/>
              </a:rPr>
              <a:t>chung</a:t>
            </a:r>
            <a:endParaRPr dirty="0">
              <a:latin typeface="+mn-l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9191625" y="2752725"/>
            <a:ext cx="22383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ECEFF1"/>
                </a:solidFill>
                <a:latin typeface="+mn-lt"/>
                <a:ea typeface="Montserrat ExtraBold"/>
                <a:cs typeface="Montserrat ExtraBold"/>
                <a:sym typeface="Montserrat ExtraBold"/>
              </a:rPr>
              <a:t>04</a:t>
            </a:r>
            <a:endParaRPr>
              <a:latin typeface="+mn-lt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9920287" y="3267075"/>
            <a:ext cx="78105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455A64"/>
                </a:solidFill>
                <a:latin typeface="+mn-lt"/>
                <a:ea typeface="Open Sans"/>
                <a:cs typeface="Open Sans"/>
                <a:sym typeface="Open Sans"/>
              </a:rPr>
              <a:t>Nghỉ</a:t>
            </a:r>
            <a:r>
              <a:rPr lang="en-US" sz="1200" b="1" i="0" u="none" strike="noStrike" cap="none" dirty="0">
                <a:solidFill>
                  <a:srgbClr val="455A64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200" b="1" i="0" u="none" strike="noStrike" cap="none" dirty="0" err="1">
                <a:solidFill>
                  <a:srgbClr val="455A64"/>
                </a:solidFill>
                <a:latin typeface="+mn-lt"/>
                <a:ea typeface="Open Sans"/>
                <a:cs typeface="Open Sans"/>
                <a:sym typeface="Open Sans"/>
              </a:rPr>
              <a:t>phép</a:t>
            </a:r>
            <a:endParaRPr dirty="0">
              <a:latin typeface="+mn-lt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762000" y="4086225"/>
            <a:ext cx="22383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ECEFF1"/>
                </a:solidFill>
                <a:latin typeface="+mn-lt"/>
                <a:ea typeface="Montserrat ExtraBold"/>
                <a:cs typeface="Montserrat ExtraBold"/>
                <a:sym typeface="Montserrat ExtraBold"/>
              </a:rPr>
              <a:t>05</a:t>
            </a:r>
            <a:endParaRPr>
              <a:latin typeface="+mn-l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1295400" y="4600575"/>
            <a:ext cx="117157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455A64"/>
                </a:solidFill>
                <a:latin typeface="+mn-lt"/>
                <a:ea typeface="Open Sans"/>
                <a:cs typeface="Open Sans"/>
                <a:sym typeface="Open Sans"/>
              </a:rPr>
              <a:t>Chế</a:t>
            </a:r>
            <a:r>
              <a:rPr lang="en-US" sz="1200" b="1" i="0" u="none" strike="noStrike" cap="none" dirty="0">
                <a:solidFill>
                  <a:srgbClr val="455A64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200" b="1" i="0" u="none" strike="noStrike" cap="none" dirty="0" err="1">
                <a:solidFill>
                  <a:srgbClr val="455A64"/>
                </a:solidFill>
                <a:latin typeface="+mn-lt"/>
                <a:ea typeface="Open Sans"/>
                <a:cs typeface="Open Sans"/>
                <a:sym typeface="Open Sans"/>
              </a:rPr>
              <a:t>độ</a:t>
            </a:r>
            <a:r>
              <a:rPr lang="en-US" sz="1200" b="1" i="0" u="none" strike="noStrike" cap="none" dirty="0">
                <a:solidFill>
                  <a:srgbClr val="455A64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200" b="1" i="0" u="none" strike="noStrike" cap="none" dirty="0" err="1">
                <a:solidFill>
                  <a:srgbClr val="455A64"/>
                </a:solidFill>
                <a:latin typeface="+mn-lt"/>
                <a:ea typeface="Open Sans"/>
                <a:cs typeface="Open Sans"/>
                <a:sym typeface="Open Sans"/>
              </a:rPr>
              <a:t>phúc</a:t>
            </a:r>
            <a:r>
              <a:rPr lang="en-US" sz="1200" b="1" i="0" u="none" strike="noStrike" cap="none" dirty="0">
                <a:solidFill>
                  <a:srgbClr val="455A64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200" b="1" i="0" u="none" strike="noStrike" cap="none" dirty="0" err="1">
                <a:solidFill>
                  <a:srgbClr val="455A64"/>
                </a:solidFill>
                <a:latin typeface="+mn-lt"/>
                <a:ea typeface="Open Sans"/>
                <a:cs typeface="Open Sans"/>
                <a:sym typeface="Open Sans"/>
              </a:rPr>
              <a:t>lợi</a:t>
            </a:r>
            <a:endParaRPr dirty="0">
              <a:latin typeface="+mn-l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571875" y="4086225"/>
            <a:ext cx="22383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i="0" u="none" strike="noStrike" cap="none" dirty="0">
                <a:solidFill>
                  <a:srgbClr val="ECEFF1"/>
                </a:solidFill>
                <a:latin typeface="+mn-lt"/>
                <a:ea typeface="Montserrat ExtraBold"/>
                <a:cs typeface="Montserrat ExtraBold"/>
                <a:sym typeface="Montserrat ExtraBold"/>
              </a:rPr>
              <a:t>06</a:t>
            </a:r>
            <a:endParaRPr dirty="0">
              <a:latin typeface="+mn-lt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3881437" y="4520684"/>
            <a:ext cx="16192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455A64"/>
                </a:solidFill>
                <a:latin typeface="+mn-lt"/>
                <a:ea typeface="Open Sans"/>
                <a:cs typeface="Open Sans"/>
                <a:sym typeface="Open Sans"/>
              </a:rPr>
              <a:t>Bảo </a:t>
            </a:r>
            <a:r>
              <a:rPr lang="en-US" sz="1200" b="1" i="0" u="none" strike="noStrike" cap="none" dirty="0" err="1">
                <a:solidFill>
                  <a:srgbClr val="455A64"/>
                </a:solidFill>
                <a:latin typeface="+mn-lt"/>
                <a:ea typeface="Open Sans"/>
                <a:cs typeface="Open Sans"/>
                <a:sym typeface="Open Sans"/>
              </a:rPr>
              <a:t>vệ</a:t>
            </a:r>
            <a:r>
              <a:rPr lang="en-US" sz="1200" b="1" i="0" u="none" strike="noStrike" cap="none" dirty="0">
                <a:solidFill>
                  <a:srgbClr val="455A64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200" b="1" i="0" u="none" strike="noStrike" cap="none" dirty="0" err="1">
                <a:solidFill>
                  <a:srgbClr val="455A64"/>
                </a:solidFill>
                <a:latin typeface="+mn-lt"/>
                <a:ea typeface="Open Sans"/>
                <a:cs typeface="Open Sans"/>
                <a:sym typeface="Open Sans"/>
              </a:rPr>
              <a:t>tài</a:t>
            </a:r>
            <a:r>
              <a:rPr lang="en-US" sz="1200" b="1" i="0" u="none" strike="noStrike" cap="none" dirty="0">
                <a:solidFill>
                  <a:srgbClr val="455A64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200" b="1" i="0" u="none" strike="noStrike" cap="none" dirty="0" err="1">
                <a:solidFill>
                  <a:srgbClr val="455A64"/>
                </a:solidFill>
                <a:latin typeface="+mn-lt"/>
                <a:ea typeface="Open Sans"/>
                <a:cs typeface="Open Sans"/>
                <a:sym typeface="Open Sans"/>
              </a:rPr>
              <a:t>sản</a:t>
            </a:r>
            <a:r>
              <a:rPr lang="en-US" sz="1200" b="1" i="0" u="none" strike="noStrike" cap="none" dirty="0">
                <a:solidFill>
                  <a:srgbClr val="455A64"/>
                </a:solidFill>
                <a:latin typeface="+mn-lt"/>
                <a:ea typeface="Open Sans"/>
                <a:cs typeface="Open Sans"/>
                <a:sym typeface="Open Sans"/>
              </a:rPr>
              <a:t>, </a:t>
            </a:r>
            <a:r>
              <a:rPr lang="en-US" sz="1200" b="1" i="0" u="none" strike="noStrike" cap="none" dirty="0" err="1">
                <a:solidFill>
                  <a:srgbClr val="455A64"/>
                </a:solidFill>
                <a:latin typeface="+mn-lt"/>
                <a:ea typeface="Open Sans"/>
                <a:cs typeface="Open Sans"/>
                <a:sym typeface="Open Sans"/>
              </a:rPr>
              <a:t>bảo</a:t>
            </a:r>
            <a:r>
              <a:rPr lang="en-US" sz="1200" b="1" i="0" u="none" strike="noStrike" cap="none" dirty="0">
                <a:solidFill>
                  <a:srgbClr val="455A64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200" b="1" i="0" u="none" strike="noStrike" cap="none" dirty="0" err="1">
                <a:solidFill>
                  <a:srgbClr val="455A64"/>
                </a:solidFill>
                <a:latin typeface="+mn-lt"/>
                <a:ea typeface="Open Sans"/>
                <a:cs typeface="Open Sans"/>
                <a:sym typeface="Open Sans"/>
              </a:rPr>
              <a:t>mật</a:t>
            </a:r>
            <a:r>
              <a:rPr lang="en-US" sz="1200" b="1" i="0" u="none" strike="noStrike" cap="none" dirty="0">
                <a:solidFill>
                  <a:srgbClr val="455A64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200" b="1" i="0" u="none" strike="noStrike" cap="none" dirty="0" err="1">
                <a:solidFill>
                  <a:srgbClr val="455A64"/>
                </a:solidFill>
                <a:latin typeface="+mn-lt"/>
                <a:ea typeface="Open Sans"/>
                <a:cs typeface="Open Sans"/>
                <a:sym typeface="Open Sans"/>
              </a:rPr>
              <a:t>thông</a:t>
            </a:r>
            <a:r>
              <a:rPr lang="en-US" sz="1200" b="1" i="0" u="none" strike="noStrike" cap="none" dirty="0">
                <a:solidFill>
                  <a:srgbClr val="455A64"/>
                </a:solidFill>
                <a:latin typeface="+mn-lt"/>
                <a:ea typeface="Open Sans"/>
                <a:cs typeface="Open Sans"/>
                <a:sym typeface="Open Sans"/>
              </a:rPr>
              <a:t> tin</a:t>
            </a:r>
            <a:endParaRPr dirty="0">
              <a:latin typeface="+mn-lt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6381750" y="4086225"/>
            <a:ext cx="22383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i="0" u="none" strike="noStrike" cap="none" dirty="0">
                <a:solidFill>
                  <a:srgbClr val="ECEFF1"/>
                </a:solidFill>
                <a:latin typeface="+mn-lt"/>
                <a:ea typeface="Montserrat ExtraBold"/>
                <a:cs typeface="Montserrat ExtraBold"/>
                <a:sym typeface="Montserrat ExtraBold"/>
              </a:rPr>
              <a:t>07</a:t>
            </a:r>
            <a:endParaRPr dirty="0">
              <a:latin typeface="+mn-lt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6657975" y="4562475"/>
            <a:ext cx="19621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455A64"/>
                </a:solidFill>
                <a:latin typeface="+mn-lt"/>
                <a:ea typeface="Open Sans"/>
                <a:cs typeface="Open Sans"/>
                <a:sym typeface="Open Sans"/>
              </a:rPr>
              <a:t>An </a:t>
            </a:r>
            <a:r>
              <a:rPr lang="en-US" sz="1200" b="1" i="0" u="none" strike="noStrike" cap="none" dirty="0" err="1">
                <a:solidFill>
                  <a:srgbClr val="455A64"/>
                </a:solidFill>
                <a:latin typeface="+mn-lt"/>
                <a:ea typeface="Open Sans"/>
                <a:cs typeface="Open Sans"/>
                <a:sym typeface="Open Sans"/>
              </a:rPr>
              <a:t>toàn</a:t>
            </a:r>
            <a:r>
              <a:rPr lang="en-US" sz="1200" b="1" i="0" u="none" strike="noStrike" cap="none" dirty="0">
                <a:solidFill>
                  <a:srgbClr val="455A64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200" b="1" i="0" u="none" strike="noStrike" cap="none" dirty="0" err="1">
                <a:solidFill>
                  <a:srgbClr val="455A64"/>
                </a:solidFill>
                <a:latin typeface="+mn-lt"/>
                <a:ea typeface="Open Sans"/>
                <a:cs typeface="Open Sans"/>
                <a:sym typeface="Open Sans"/>
              </a:rPr>
              <a:t>lao</a:t>
            </a:r>
            <a:r>
              <a:rPr lang="en-US" sz="1200" b="1" i="0" u="none" strike="noStrike" cap="none" dirty="0">
                <a:solidFill>
                  <a:srgbClr val="455A64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200" b="1" i="0" u="none" strike="noStrike" cap="none" dirty="0" err="1">
                <a:solidFill>
                  <a:srgbClr val="455A64"/>
                </a:solidFill>
                <a:latin typeface="+mn-lt"/>
                <a:ea typeface="Open Sans"/>
                <a:cs typeface="Open Sans"/>
                <a:sym typeface="Open Sans"/>
              </a:rPr>
              <a:t>động</a:t>
            </a:r>
            <a:r>
              <a:rPr lang="en-US" sz="1200" b="1" i="0" u="none" strike="noStrike" cap="none" dirty="0">
                <a:solidFill>
                  <a:srgbClr val="455A64"/>
                </a:solidFill>
                <a:latin typeface="+mn-lt"/>
                <a:ea typeface="Open Sans"/>
                <a:cs typeface="Open Sans"/>
                <a:sym typeface="Open Sans"/>
              </a:rPr>
              <a:t>, </a:t>
            </a:r>
            <a:r>
              <a:rPr lang="en-US" sz="1200" b="1" i="0" u="none" strike="noStrike" cap="none" dirty="0" err="1">
                <a:solidFill>
                  <a:srgbClr val="455A64"/>
                </a:solidFill>
                <a:latin typeface="+mn-lt"/>
                <a:ea typeface="Open Sans"/>
                <a:cs typeface="Open Sans"/>
                <a:sym typeface="Open Sans"/>
              </a:rPr>
              <a:t>vệ</a:t>
            </a:r>
            <a:r>
              <a:rPr lang="en-US" sz="1200" b="1" i="0" u="none" strike="noStrike" cap="none" dirty="0">
                <a:solidFill>
                  <a:srgbClr val="455A64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200" b="1" i="0" u="none" strike="noStrike" cap="none" dirty="0" err="1">
                <a:solidFill>
                  <a:srgbClr val="455A64"/>
                </a:solidFill>
                <a:latin typeface="+mn-lt"/>
                <a:ea typeface="Open Sans"/>
                <a:cs typeface="Open Sans"/>
                <a:sym typeface="Open Sans"/>
              </a:rPr>
              <a:t>sinh</a:t>
            </a:r>
            <a:r>
              <a:rPr lang="en-US" sz="1200" b="1" i="0" u="none" strike="noStrike" cap="none" dirty="0">
                <a:solidFill>
                  <a:srgbClr val="455A64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200" b="1" i="0" u="none" strike="noStrike" cap="none" dirty="0" err="1">
                <a:solidFill>
                  <a:srgbClr val="455A64"/>
                </a:solidFill>
                <a:latin typeface="+mn-lt"/>
                <a:ea typeface="Open Sans"/>
                <a:cs typeface="Open Sans"/>
                <a:sym typeface="Open Sans"/>
              </a:rPr>
              <a:t>lao</a:t>
            </a:r>
            <a:r>
              <a:rPr lang="en-US" sz="1200" b="1" i="0" u="none" strike="noStrike" cap="none" dirty="0">
                <a:solidFill>
                  <a:srgbClr val="455A64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200" b="1" i="0" u="none" strike="noStrike" cap="none" dirty="0" err="1">
                <a:solidFill>
                  <a:srgbClr val="455A64"/>
                </a:solidFill>
                <a:latin typeface="+mn-lt"/>
                <a:ea typeface="Open Sans"/>
                <a:cs typeface="Open Sans"/>
                <a:sym typeface="Open Sans"/>
              </a:rPr>
              <a:t>động</a:t>
            </a:r>
            <a:endParaRPr dirty="0">
              <a:latin typeface="+mn-lt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190500" y="238125"/>
            <a:ext cx="116205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263238"/>
                </a:solidFill>
                <a:latin typeface="+mn-lt"/>
                <a:ea typeface="Montserrat ExtraBold"/>
                <a:cs typeface="Montserrat ExtraBold"/>
                <a:sym typeface="Montserrat ExtraBold"/>
              </a:rPr>
              <a:t>MỤC LỤC</a:t>
            </a:r>
            <a:endParaRPr b="1" dirty="0">
              <a:latin typeface="+mn-lt"/>
            </a:endParaRPr>
          </a:p>
        </p:txBody>
      </p:sp>
      <p:sp>
        <p:nvSpPr>
          <p:cNvPr id="117" name="Google Shape;117;p14"/>
          <p:cNvSpPr/>
          <p:nvPr/>
        </p:nvSpPr>
        <p:spPr>
          <a:xfrm>
            <a:off x="571500" y="1123950"/>
            <a:ext cx="762000" cy="5715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57049BA-165C-0C8C-F539-D703625FA8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3963" y="-22741"/>
            <a:ext cx="1350392" cy="1347237"/>
          </a:xfrm>
          <a:prstGeom prst="rect">
            <a:avLst/>
          </a:prstGeom>
        </p:spPr>
      </p:pic>
      <p:sp>
        <p:nvSpPr>
          <p:cNvPr id="3" name="Google Shape;114;p14">
            <a:extLst>
              <a:ext uri="{FF2B5EF4-FFF2-40B4-BE49-F238E27FC236}">
                <a16:creationId xmlns:a16="http://schemas.microsoft.com/office/drawing/2014/main" id="{EE123103-7A5B-4AB9-B29E-F5DCF70166FF}"/>
              </a:ext>
            </a:extLst>
          </p:cNvPr>
          <p:cNvSpPr txBox="1"/>
          <p:nvPr/>
        </p:nvSpPr>
        <p:spPr>
          <a:xfrm>
            <a:off x="9572625" y="4005262"/>
            <a:ext cx="22383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ECEFF1"/>
                </a:solidFill>
                <a:latin typeface="+mn-lt"/>
                <a:ea typeface="Montserrat ExtraBold"/>
                <a:cs typeface="Montserrat ExtraBold"/>
                <a:sym typeface="Montserrat ExtraBold"/>
              </a:rPr>
              <a:t>08</a:t>
            </a:r>
            <a:endParaRPr b="1" dirty="0">
              <a:latin typeface="+mn-lt"/>
            </a:endParaRPr>
          </a:p>
        </p:txBody>
      </p:sp>
      <p:pic>
        <p:nvPicPr>
          <p:cNvPr id="8" name="Google Shape;99;p14" descr="image.png">
            <a:extLst>
              <a:ext uri="{FF2B5EF4-FFF2-40B4-BE49-F238E27FC236}">
                <a16:creationId xmlns:a16="http://schemas.microsoft.com/office/drawing/2014/main" id="{DBC06815-06CE-59DA-33C5-DF46EE72636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82124" y="4407298"/>
            <a:ext cx="2619375" cy="77794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15;p14">
            <a:extLst>
              <a:ext uri="{FF2B5EF4-FFF2-40B4-BE49-F238E27FC236}">
                <a16:creationId xmlns:a16="http://schemas.microsoft.com/office/drawing/2014/main" id="{6FB5B4CE-5FB7-52C5-AAE9-6EE62ECA5026}"/>
              </a:ext>
            </a:extLst>
          </p:cNvPr>
          <p:cNvSpPr txBox="1"/>
          <p:nvPr/>
        </p:nvSpPr>
        <p:spPr>
          <a:xfrm>
            <a:off x="9720555" y="4600575"/>
            <a:ext cx="196215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455A64"/>
                </a:solidFill>
                <a:latin typeface="+mn-lt"/>
                <a:ea typeface="Open Sans"/>
                <a:cs typeface="Open Sans"/>
                <a:sym typeface="Open Sans"/>
              </a:rPr>
              <a:t>Xử</a:t>
            </a:r>
            <a:r>
              <a:rPr lang="en-US" sz="1200" b="1" i="0" u="none" strike="noStrike" cap="none" dirty="0">
                <a:solidFill>
                  <a:srgbClr val="455A64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200" b="1" i="0" u="none" strike="noStrike" cap="none" dirty="0" err="1">
                <a:solidFill>
                  <a:srgbClr val="455A64"/>
                </a:solidFill>
                <a:latin typeface="+mn-lt"/>
                <a:ea typeface="Open Sans"/>
                <a:cs typeface="Open Sans"/>
                <a:sym typeface="Open Sans"/>
              </a:rPr>
              <a:t>phạt</a:t>
            </a:r>
            <a:r>
              <a:rPr lang="en-US" sz="1200" b="1" i="0" u="none" strike="noStrike" cap="none" dirty="0">
                <a:solidFill>
                  <a:srgbClr val="455A64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200" b="1" i="0" u="none" strike="noStrike" cap="none" dirty="0" err="1">
                <a:solidFill>
                  <a:srgbClr val="455A64"/>
                </a:solidFill>
                <a:latin typeface="+mn-lt"/>
                <a:ea typeface="Open Sans"/>
                <a:cs typeface="Open Sans"/>
                <a:sym typeface="Open Sans"/>
              </a:rPr>
              <a:t>không</a:t>
            </a:r>
            <a:r>
              <a:rPr lang="en-US" sz="1200" b="1" i="0" u="none" strike="noStrike" cap="none" dirty="0">
                <a:solidFill>
                  <a:srgbClr val="455A64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200" b="1" i="0" u="none" strike="noStrike" cap="none" dirty="0" err="1">
                <a:solidFill>
                  <a:srgbClr val="455A64"/>
                </a:solidFill>
                <a:latin typeface="+mn-lt"/>
                <a:ea typeface="Open Sans"/>
                <a:cs typeface="Open Sans"/>
                <a:sym typeface="Open Sans"/>
              </a:rPr>
              <a:t>tuân</a:t>
            </a:r>
            <a:r>
              <a:rPr lang="en-US" sz="1200" b="1" i="0" u="none" strike="noStrike" cap="none" dirty="0">
                <a:solidFill>
                  <a:srgbClr val="455A64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200" b="1" i="0" u="none" strike="noStrike" cap="none" dirty="0" err="1">
                <a:solidFill>
                  <a:srgbClr val="455A64"/>
                </a:solidFill>
                <a:latin typeface="+mn-lt"/>
                <a:ea typeface="Open Sans"/>
                <a:cs typeface="Open Sans"/>
                <a:sym typeface="Open Sans"/>
              </a:rPr>
              <a:t>thủ</a:t>
            </a:r>
            <a:endParaRPr dirty="0">
              <a:latin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/>
          <p:cNvPicPr preferRelativeResize="0"/>
          <p:nvPr/>
        </p:nvPicPr>
        <p:blipFill>
          <a:blip r:embed="rId4">
            <a:alphaModFix/>
          </a:blip>
          <a:srcRect/>
          <a:stretch/>
        </p:blipFill>
        <p:spPr>
          <a:xfrm>
            <a:off x="6231989" y="1772529"/>
            <a:ext cx="5388512" cy="3573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54981" y="4214812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74368" y="4214812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285750" y="152400"/>
            <a:ext cx="116205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263238"/>
                </a:solidFill>
                <a:latin typeface="+mn-lt"/>
                <a:ea typeface="Montserrat ExtraBold"/>
                <a:cs typeface="Montserrat ExtraBold"/>
                <a:sym typeface="Montserrat ExtraBold"/>
              </a:rPr>
              <a:t>1. PHẠM VI ÁP DỤNG</a:t>
            </a:r>
            <a:endParaRPr sz="2800" b="1" dirty="0">
              <a:latin typeface="+mn-lt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571500" y="1123950"/>
            <a:ext cx="762000" cy="5715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571500" y="2443162"/>
            <a:ext cx="555069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chemeClr val="accent6">
                    <a:lumMod val="75000"/>
                  </a:schemeClr>
                </a:solidFill>
                <a:latin typeface="+mn-lt"/>
                <a:ea typeface="Montserrat"/>
                <a:cs typeface="Montserrat"/>
                <a:sym typeface="Montserrat"/>
              </a:rPr>
              <a:t>Đối</a:t>
            </a:r>
            <a:r>
              <a:rPr lang="en-US" sz="2000" b="1" i="0" u="none" strike="noStrike" cap="none" dirty="0">
                <a:solidFill>
                  <a:schemeClr val="accent6">
                    <a:lumMod val="75000"/>
                  </a:schemeClr>
                </a:solidFill>
                <a:latin typeface="+mn-lt"/>
                <a:ea typeface="Montserrat"/>
                <a:cs typeface="Montserrat"/>
                <a:sym typeface="Montserrat"/>
              </a:rPr>
              <a:t> </a:t>
            </a:r>
            <a:r>
              <a:rPr lang="en-US" sz="2000" b="1" i="0" u="none" strike="noStrike" cap="none" dirty="0" err="1">
                <a:solidFill>
                  <a:schemeClr val="accent6">
                    <a:lumMod val="75000"/>
                  </a:schemeClr>
                </a:solidFill>
                <a:latin typeface="+mn-lt"/>
                <a:ea typeface="Montserrat"/>
                <a:cs typeface="Montserrat"/>
                <a:sym typeface="Montserrat"/>
              </a:rPr>
              <a:t>tượng</a:t>
            </a:r>
            <a:r>
              <a:rPr lang="en-US" sz="2000" b="1" i="0" u="none" strike="noStrike" cap="none" dirty="0">
                <a:solidFill>
                  <a:schemeClr val="accent6">
                    <a:lumMod val="75000"/>
                  </a:schemeClr>
                </a:solidFill>
                <a:latin typeface="+mn-lt"/>
                <a:ea typeface="Montserrat"/>
                <a:cs typeface="Montserrat"/>
                <a:sym typeface="Montserrat"/>
              </a:rPr>
              <a:t> </a:t>
            </a:r>
            <a:r>
              <a:rPr lang="en-US" sz="2000" b="1" i="0" u="none" strike="noStrike" cap="none" dirty="0" err="1">
                <a:solidFill>
                  <a:schemeClr val="accent6">
                    <a:lumMod val="75000"/>
                  </a:schemeClr>
                </a:solidFill>
                <a:latin typeface="+mn-lt"/>
                <a:ea typeface="Montserrat"/>
                <a:cs typeface="Montserrat"/>
                <a:sym typeface="Montserrat"/>
              </a:rPr>
              <a:t>áp</a:t>
            </a:r>
            <a:r>
              <a:rPr lang="en-US" sz="2000" b="1" i="0" u="none" strike="noStrike" cap="none" dirty="0">
                <a:solidFill>
                  <a:schemeClr val="accent6">
                    <a:lumMod val="75000"/>
                  </a:schemeClr>
                </a:solidFill>
                <a:latin typeface="+mn-lt"/>
                <a:ea typeface="Montserrat"/>
                <a:cs typeface="Montserrat"/>
                <a:sym typeface="Montserrat"/>
              </a:rPr>
              <a:t> </a:t>
            </a:r>
            <a:r>
              <a:rPr lang="en-US" sz="2000" b="1" i="0" u="none" strike="noStrike" cap="none" dirty="0" err="1">
                <a:solidFill>
                  <a:schemeClr val="accent6">
                    <a:lumMod val="75000"/>
                  </a:schemeClr>
                </a:solidFill>
                <a:latin typeface="+mn-lt"/>
                <a:ea typeface="Montserrat"/>
                <a:cs typeface="Montserrat"/>
                <a:sym typeface="Montserrat"/>
              </a:rPr>
              <a:t>dụng</a:t>
            </a:r>
            <a:endParaRPr sz="2000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571500" y="3005137"/>
            <a:ext cx="528637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>
                <a:solidFill>
                  <a:srgbClr val="555555"/>
                </a:solidFill>
                <a:latin typeface="+mn-lt"/>
                <a:ea typeface="Open Sans"/>
                <a:cs typeface="Open Sans"/>
                <a:sym typeface="Open Sans"/>
              </a:rPr>
              <a:t>Toàn</a:t>
            </a:r>
            <a:r>
              <a:rPr lang="en-US" b="0" i="0" u="none" strike="noStrike" cap="none" dirty="0">
                <a:solidFill>
                  <a:srgbClr val="555555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 dirty="0" err="1">
                <a:solidFill>
                  <a:srgbClr val="555555"/>
                </a:solidFill>
                <a:latin typeface="+mn-lt"/>
                <a:ea typeface="Open Sans"/>
                <a:cs typeface="Open Sans"/>
                <a:sym typeface="Open Sans"/>
              </a:rPr>
              <a:t>thể</a:t>
            </a:r>
            <a:r>
              <a:rPr lang="en-US" b="0" i="0" u="none" strike="noStrike" cap="none" dirty="0">
                <a:solidFill>
                  <a:srgbClr val="555555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 dirty="0" err="1">
                <a:solidFill>
                  <a:srgbClr val="555555"/>
                </a:solidFill>
                <a:latin typeface="+mn-lt"/>
                <a:ea typeface="Open Sans"/>
                <a:cs typeface="Open Sans"/>
                <a:sym typeface="Open Sans"/>
              </a:rPr>
              <a:t>người</a:t>
            </a:r>
            <a:r>
              <a:rPr lang="en-US" b="0" i="0" u="none" strike="noStrike" cap="none" dirty="0">
                <a:solidFill>
                  <a:srgbClr val="555555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 dirty="0" err="1">
                <a:solidFill>
                  <a:srgbClr val="555555"/>
                </a:solidFill>
                <a:latin typeface="+mn-lt"/>
                <a:ea typeface="Open Sans"/>
                <a:cs typeface="Open Sans"/>
                <a:sym typeface="Open Sans"/>
              </a:rPr>
              <a:t>lao</a:t>
            </a:r>
            <a:r>
              <a:rPr lang="en-US" b="0" i="0" u="none" strike="noStrike" cap="none" dirty="0">
                <a:solidFill>
                  <a:srgbClr val="555555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 dirty="0" err="1">
                <a:solidFill>
                  <a:srgbClr val="555555"/>
                </a:solidFill>
                <a:latin typeface="+mn-lt"/>
                <a:ea typeface="Open Sans"/>
                <a:cs typeface="Open Sans"/>
                <a:sym typeface="Open Sans"/>
              </a:rPr>
              <a:t>động</a:t>
            </a:r>
            <a:r>
              <a:rPr lang="en-US" b="0" i="0" u="none" strike="noStrike" cap="none" dirty="0">
                <a:solidFill>
                  <a:srgbClr val="555555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1" i="0" u="none" strike="noStrike" cap="none" dirty="0">
                <a:solidFill>
                  <a:srgbClr val="555555"/>
                </a:solidFill>
                <a:latin typeface="+mn-lt"/>
                <a:ea typeface="Open Sans"/>
                <a:cs typeface="Open Sans"/>
                <a:sym typeface="Open Sans"/>
              </a:rPr>
              <a:t>(</a:t>
            </a:r>
            <a:r>
              <a:rPr lang="en-US" b="1" i="0" u="none" strike="noStrike" cap="none" dirty="0" err="1">
                <a:solidFill>
                  <a:srgbClr val="555555"/>
                </a:solidFill>
                <a:latin typeface="+mn-lt"/>
                <a:ea typeface="Open Sans"/>
                <a:cs typeface="Open Sans"/>
                <a:sym typeface="Open Sans"/>
              </a:rPr>
              <a:t>chính</a:t>
            </a:r>
            <a:r>
              <a:rPr lang="en-US" b="1" i="0" u="none" strike="noStrike" cap="none" dirty="0">
                <a:solidFill>
                  <a:srgbClr val="555555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1" i="0" u="none" strike="noStrike" cap="none" dirty="0" err="1">
                <a:solidFill>
                  <a:srgbClr val="555555"/>
                </a:solidFill>
                <a:latin typeface="+mn-lt"/>
                <a:ea typeface="Open Sans"/>
                <a:cs typeface="Open Sans"/>
                <a:sym typeface="Open Sans"/>
              </a:rPr>
              <a:t>thức</a:t>
            </a:r>
            <a:r>
              <a:rPr lang="en-US" b="1" i="0" u="none" strike="noStrike" cap="none" dirty="0">
                <a:solidFill>
                  <a:srgbClr val="555555"/>
                </a:solidFill>
                <a:latin typeface="+mn-lt"/>
                <a:ea typeface="Open Sans"/>
                <a:cs typeface="Open Sans"/>
                <a:sym typeface="Open Sans"/>
              </a:rPr>
              <a:t>/</a:t>
            </a:r>
            <a:r>
              <a:rPr lang="en-US" b="1" i="0" u="none" strike="noStrike" cap="none" dirty="0" err="1">
                <a:solidFill>
                  <a:srgbClr val="555555"/>
                </a:solidFill>
                <a:latin typeface="+mn-lt"/>
                <a:ea typeface="Open Sans"/>
                <a:cs typeface="Open Sans"/>
                <a:sym typeface="Open Sans"/>
              </a:rPr>
              <a:t>thử</a:t>
            </a:r>
            <a:r>
              <a:rPr lang="en-US" b="1" i="0" u="none" strike="noStrike" cap="none" dirty="0">
                <a:solidFill>
                  <a:srgbClr val="555555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1" i="0" u="none" strike="noStrike" cap="none" dirty="0" err="1">
                <a:solidFill>
                  <a:srgbClr val="555555"/>
                </a:solidFill>
                <a:latin typeface="+mn-lt"/>
                <a:ea typeface="Open Sans"/>
                <a:cs typeface="Open Sans"/>
                <a:sym typeface="Open Sans"/>
              </a:rPr>
              <a:t>việc</a:t>
            </a:r>
            <a:r>
              <a:rPr lang="en-US" b="1" i="0" u="none" strike="noStrike" cap="none" dirty="0">
                <a:solidFill>
                  <a:srgbClr val="555555"/>
                </a:solidFill>
                <a:latin typeface="+mn-lt"/>
                <a:ea typeface="Open Sans"/>
                <a:cs typeface="Open Sans"/>
                <a:sym typeface="Open Sans"/>
              </a:rPr>
              <a:t>)</a:t>
            </a:r>
            <a:r>
              <a:rPr lang="en-US" b="0" i="0" u="none" strike="noStrike" cap="none" dirty="0">
                <a:solidFill>
                  <a:srgbClr val="555555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 dirty="0" err="1">
                <a:solidFill>
                  <a:srgbClr val="555555"/>
                </a:solidFill>
                <a:latin typeface="+mn-lt"/>
                <a:ea typeface="Open Sans"/>
                <a:cs typeface="Open Sans"/>
                <a:sym typeface="Open Sans"/>
              </a:rPr>
              <a:t>làm</a:t>
            </a:r>
            <a:r>
              <a:rPr lang="en-US" b="0" i="0" u="none" strike="noStrike" cap="none" dirty="0">
                <a:solidFill>
                  <a:srgbClr val="555555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 dirty="0" err="1">
                <a:solidFill>
                  <a:srgbClr val="555555"/>
                </a:solidFill>
                <a:latin typeface="+mn-lt"/>
                <a:ea typeface="Open Sans"/>
                <a:cs typeface="Open Sans"/>
                <a:sym typeface="Open Sans"/>
              </a:rPr>
              <a:t>việc</a:t>
            </a:r>
            <a:r>
              <a:rPr lang="en-US" b="0" i="0" u="none" strike="noStrike" cap="none" dirty="0">
                <a:solidFill>
                  <a:srgbClr val="555555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 dirty="0" err="1">
                <a:solidFill>
                  <a:srgbClr val="555555"/>
                </a:solidFill>
                <a:latin typeface="+mn-lt"/>
                <a:ea typeface="Open Sans"/>
                <a:cs typeface="Open Sans"/>
                <a:sym typeface="Open Sans"/>
              </a:rPr>
              <a:t>tại</a:t>
            </a:r>
            <a:r>
              <a:rPr lang="en-US" b="0" i="0" u="none" strike="noStrike" cap="none" dirty="0">
                <a:solidFill>
                  <a:srgbClr val="555555"/>
                </a:solidFill>
                <a:latin typeface="+mn-lt"/>
                <a:ea typeface="Open Sans"/>
                <a:cs typeface="Open Sans"/>
                <a:sym typeface="Open Sans"/>
              </a:rPr>
              <a:t> Công ty bao </a:t>
            </a:r>
            <a:r>
              <a:rPr lang="en-US" b="0" i="0" u="none" strike="noStrike" cap="none" dirty="0" err="1">
                <a:solidFill>
                  <a:srgbClr val="555555"/>
                </a:solidFill>
                <a:latin typeface="+mn-lt"/>
                <a:ea typeface="Open Sans"/>
                <a:cs typeface="Open Sans"/>
                <a:sym typeface="Open Sans"/>
              </a:rPr>
              <a:t>gồm</a:t>
            </a:r>
            <a:r>
              <a:rPr lang="en-US" b="0" i="0" u="none" strike="noStrike" cap="none" dirty="0">
                <a:solidFill>
                  <a:srgbClr val="555555"/>
                </a:solidFill>
                <a:latin typeface="+mn-lt"/>
                <a:ea typeface="Open Sans"/>
                <a:cs typeface="Open Sans"/>
                <a:sym typeface="Open Sans"/>
              </a:rPr>
              <a:t>:</a:t>
            </a:r>
            <a:endParaRPr dirty="0">
              <a:latin typeface="+mn-lt"/>
            </a:endParaRPr>
          </a:p>
        </p:txBody>
      </p:sp>
      <p:sp>
        <p:nvSpPr>
          <p:cNvPr id="132" name="Google Shape;132;p15"/>
          <p:cNvSpPr txBox="1"/>
          <p:nvPr/>
        </p:nvSpPr>
        <p:spPr>
          <a:xfrm>
            <a:off x="857250" y="4662487"/>
            <a:ext cx="2024062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Văn phòng chính</a:t>
            </a:r>
            <a:endParaRPr>
              <a:latin typeface="+mn-lt"/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3595687" y="4662487"/>
            <a:ext cx="2024062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Các chi nhánh</a:t>
            </a:r>
            <a:endParaRPr>
              <a:latin typeface="+mn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1E8C30-1FBA-966A-C101-6515D6529C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86058" y="-25510"/>
            <a:ext cx="1350392" cy="13472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716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349250" y="238125"/>
            <a:ext cx="116205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263238"/>
                </a:solidFill>
                <a:latin typeface="+mn-lt"/>
                <a:ea typeface="Montserrat ExtraBold"/>
                <a:cs typeface="Montserrat ExtraBold"/>
                <a:sym typeface="Montserrat ExtraBold"/>
              </a:rPr>
              <a:t>2. THỜI GIAN LÀM VIỆC</a:t>
            </a:r>
            <a:endParaRPr b="1" dirty="0">
              <a:latin typeface="+mn-lt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571500" y="1123950"/>
            <a:ext cx="762000" cy="5715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6619875" y="2228850"/>
            <a:ext cx="5000625" cy="704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Thời</a:t>
            </a:r>
            <a:r>
              <a:rPr lang="en-US" sz="1350" b="1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1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gian</a:t>
            </a:r>
            <a:r>
              <a:rPr lang="en-US" sz="1350" b="1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1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làm</a:t>
            </a:r>
            <a:r>
              <a:rPr lang="en-US" sz="1350" b="1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1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việc</a:t>
            </a:r>
            <a:r>
              <a:rPr lang="en-US" sz="1350" b="1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: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Thứ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2 -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Thứ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7: 8h00 – 17h00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Nghỉ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trưa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: 12h00 - 13h00</a:t>
            </a:r>
            <a:endParaRPr dirty="0">
              <a:latin typeface="+mn-lt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6619875" y="3143250"/>
            <a:ext cx="5000625" cy="704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Ngày</a:t>
            </a:r>
            <a:r>
              <a:rPr lang="en-US" sz="1350" b="1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1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nghỉ</a:t>
            </a:r>
            <a:r>
              <a:rPr lang="en-US" sz="1350" b="1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: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Chủ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nhật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,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Lễ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Tết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theo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quy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định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Nhà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nước</a:t>
            </a:r>
            <a:r>
              <a:rPr lang="en-US" sz="1350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và</a:t>
            </a:r>
            <a:r>
              <a:rPr lang="en-US" sz="1350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quy</a:t>
            </a:r>
            <a:r>
              <a:rPr lang="en-US" sz="1350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định</a:t>
            </a:r>
            <a:r>
              <a:rPr lang="en-US" sz="1350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riêng</a:t>
            </a:r>
            <a:r>
              <a:rPr lang="en-US" sz="1350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của</a:t>
            </a:r>
            <a:r>
              <a:rPr lang="en-US" sz="1350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NSDLĐ</a:t>
            </a:r>
            <a:endParaRPr dirty="0">
              <a:latin typeface="+mn-lt"/>
            </a:endParaRPr>
          </a:p>
        </p:txBody>
      </p:sp>
      <p:sp>
        <p:nvSpPr>
          <p:cNvPr id="146" name="Google Shape;146;p16"/>
          <p:cNvSpPr txBox="1"/>
          <p:nvPr/>
        </p:nvSpPr>
        <p:spPr>
          <a:xfrm>
            <a:off x="6619875" y="3800475"/>
            <a:ext cx="5000625" cy="704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Chế</a:t>
            </a:r>
            <a:r>
              <a:rPr lang="en-US" sz="1350" b="1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1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độ</a:t>
            </a:r>
            <a:r>
              <a:rPr lang="en-US" sz="1350" b="1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1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cho</a:t>
            </a:r>
            <a:r>
              <a:rPr lang="en-US" sz="1350" b="1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1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lao</a:t>
            </a:r>
            <a:r>
              <a:rPr lang="en-US" sz="1350" b="1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1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động</a:t>
            </a:r>
            <a:r>
              <a:rPr lang="en-US" sz="1350" b="1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1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nữ</a:t>
            </a:r>
            <a:r>
              <a:rPr lang="en-US" sz="1350" b="1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: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Nuôi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con &lt; 12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tháng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: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Giảm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01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giờ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làm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việc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/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ngày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,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hưởng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nguyên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lương</a:t>
            </a:r>
            <a:r>
              <a:rPr lang="en-US" sz="1350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cho</a:t>
            </a:r>
            <a:r>
              <a:rPr lang="en-US" sz="1350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đến</a:t>
            </a:r>
            <a:r>
              <a:rPr lang="en-US" sz="1350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khi</a:t>
            </a:r>
            <a:r>
              <a:rPr lang="en-US" sz="1350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con </a:t>
            </a:r>
            <a:r>
              <a:rPr lang="en-US" sz="1350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đủ</a:t>
            </a:r>
            <a:r>
              <a:rPr lang="en-US" sz="1350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12 </a:t>
            </a:r>
            <a:r>
              <a:rPr lang="en-US" sz="1350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tháng</a:t>
            </a:r>
            <a:r>
              <a:rPr lang="en-US" sz="1350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tuổi</a:t>
            </a:r>
            <a:endParaRPr dirty="0">
              <a:latin typeface="+mn-lt"/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6619875" y="4714875"/>
            <a:ext cx="5000625" cy="469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Làm</a:t>
            </a:r>
            <a:r>
              <a:rPr lang="en-US" sz="1350" b="1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1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thêm</a:t>
            </a:r>
            <a:r>
              <a:rPr lang="en-US" sz="1350" b="1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1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giờ</a:t>
            </a:r>
            <a:r>
              <a:rPr lang="en-US" sz="1350" b="1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: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Thỏa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thuận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tự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nguyện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, </a:t>
            </a:r>
            <a:r>
              <a:rPr lang="en-US" sz="1350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NSDLĐ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bố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trí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cho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NLĐ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nghỉ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bù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có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lương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.</a:t>
            </a:r>
            <a:endParaRPr dirty="0">
              <a:latin typeface="+mn-lt"/>
            </a:endParaRPr>
          </a:p>
        </p:txBody>
      </p:sp>
      <p:pic>
        <p:nvPicPr>
          <p:cNvPr id="149" name="Google Shape;14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25742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17182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82905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474345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52F4BFB-C697-9646-562F-994402CC41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86058" y="-25510"/>
            <a:ext cx="1350392" cy="13472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3709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33662"/>
            <a:ext cx="3492400" cy="233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633662"/>
            <a:ext cx="3492549" cy="233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633662"/>
            <a:ext cx="3492400" cy="233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87775" y="4329112"/>
            <a:ext cx="3016299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7250" y="2871787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24474" y="2825450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13700" y="2871787"/>
            <a:ext cx="2286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299529" y="37095"/>
            <a:ext cx="116205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263238"/>
                </a:solidFill>
                <a:latin typeface="+mn-lt"/>
                <a:ea typeface="Montserrat ExtraBold"/>
                <a:cs typeface="Montserrat ExtraBold"/>
                <a:sym typeface="Montserrat ExtraBold"/>
              </a:rPr>
              <a:t>3. NGHỈ PHÉP NĂM</a:t>
            </a:r>
            <a:endParaRPr sz="2800" b="1" dirty="0">
              <a:latin typeface="+mn-lt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571500" y="1123950"/>
            <a:ext cx="762000" cy="5715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 txBox="1"/>
          <p:nvPr/>
        </p:nvSpPr>
        <p:spPr>
          <a:xfrm>
            <a:off x="1351761" y="2856105"/>
            <a:ext cx="311695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FF6D00"/>
                </a:solidFill>
                <a:latin typeface="+mn-lt"/>
                <a:ea typeface="Montserrat"/>
                <a:cs typeface="Montserrat"/>
                <a:sym typeface="Montserrat"/>
              </a:rPr>
              <a:t>Quy </a:t>
            </a:r>
            <a:r>
              <a:rPr lang="en-US" sz="2000" b="1" i="0" u="none" strike="noStrike" cap="none" dirty="0" err="1">
                <a:solidFill>
                  <a:srgbClr val="FF6D00"/>
                </a:solidFill>
                <a:latin typeface="+mn-lt"/>
                <a:ea typeface="Montserrat"/>
                <a:cs typeface="Montserrat"/>
                <a:sym typeface="Montserrat"/>
              </a:rPr>
              <a:t>định</a:t>
            </a:r>
            <a:r>
              <a:rPr lang="en-US" sz="2000" b="1" i="0" u="none" strike="noStrike" cap="none" dirty="0">
                <a:solidFill>
                  <a:srgbClr val="FF6D00"/>
                </a:solidFill>
                <a:latin typeface="+mn-lt"/>
                <a:ea typeface="Montserrat"/>
                <a:cs typeface="Montserrat"/>
                <a:sym typeface="Montserrat"/>
              </a:rPr>
              <a:t> </a:t>
            </a:r>
            <a:r>
              <a:rPr lang="en-US" sz="2000" b="1" i="0" u="none" strike="noStrike" cap="none" dirty="0" err="1">
                <a:solidFill>
                  <a:srgbClr val="FF6D00"/>
                </a:solidFill>
                <a:latin typeface="+mn-lt"/>
                <a:ea typeface="Montserrat"/>
                <a:cs typeface="Montserrat"/>
                <a:sym typeface="Montserrat"/>
              </a:rPr>
              <a:t>chung</a:t>
            </a:r>
            <a:endParaRPr sz="2000" dirty="0">
              <a:latin typeface="+mn-lt"/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857250" y="3671887"/>
            <a:ext cx="296852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NLĐ làm đủ 12 tháng được </a:t>
            </a:r>
            <a:r>
              <a:rPr lang="en-US" b="1" i="0" u="none" strike="noStrike" cap="none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12 ngày phép năm</a:t>
            </a:r>
            <a:r>
              <a:rPr lang="en-US" b="0" i="0" u="none" strike="noStrike" cap="none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hưởng nguyên lương.</a:t>
            </a:r>
            <a:endParaRPr>
              <a:latin typeface="+mn-lt"/>
            </a:endParaRPr>
          </a:p>
        </p:txBody>
      </p:sp>
      <p:sp>
        <p:nvSpPr>
          <p:cNvPr id="170" name="Google Shape;170;p17"/>
          <p:cNvSpPr txBox="1"/>
          <p:nvPr/>
        </p:nvSpPr>
        <p:spPr>
          <a:xfrm>
            <a:off x="857250" y="4281487"/>
            <a:ext cx="296852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777777"/>
                </a:solidFill>
                <a:latin typeface="+mn-lt"/>
                <a:ea typeface="Open Sans"/>
                <a:cs typeface="Open Sans"/>
                <a:sym typeface="Open Sans"/>
              </a:rPr>
              <a:t>(</a:t>
            </a:r>
            <a:r>
              <a:rPr lang="en-US" b="0" i="0" u="none" strike="noStrike" cap="none" dirty="0" err="1">
                <a:solidFill>
                  <a:srgbClr val="777777"/>
                </a:solidFill>
                <a:latin typeface="+mn-lt"/>
                <a:ea typeface="Open Sans"/>
                <a:cs typeface="Open Sans"/>
                <a:sym typeface="Open Sans"/>
              </a:rPr>
              <a:t>Chưa</a:t>
            </a:r>
            <a:r>
              <a:rPr lang="en-US" b="0" i="0" u="none" strike="noStrike" cap="none" dirty="0">
                <a:solidFill>
                  <a:srgbClr val="777777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 dirty="0" err="1">
                <a:solidFill>
                  <a:srgbClr val="777777"/>
                </a:solidFill>
                <a:latin typeface="+mn-lt"/>
                <a:ea typeface="Open Sans"/>
                <a:cs typeface="Open Sans"/>
                <a:sym typeface="Open Sans"/>
              </a:rPr>
              <a:t>đủ</a:t>
            </a:r>
            <a:r>
              <a:rPr lang="en-US" b="0" i="0" u="none" strike="noStrike" cap="none" dirty="0">
                <a:solidFill>
                  <a:srgbClr val="777777"/>
                </a:solidFill>
                <a:latin typeface="+mn-lt"/>
                <a:ea typeface="Open Sans"/>
                <a:cs typeface="Open Sans"/>
                <a:sym typeface="Open Sans"/>
              </a:rPr>
              <a:t> 12 </a:t>
            </a:r>
            <a:r>
              <a:rPr lang="en-US" b="0" i="0" u="none" strike="noStrike" cap="none" dirty="0" err="1">
                <a:solidFill>
                  <a:srgbClr val="777777"/>
                </a:solidFill>
                <a:latin typeface="+mn-lt"/>
                <a:ea typeface="Open Sans"/>
                <a:cs typeface="Open Sans"/>
                <a:sym typeface="Open Sans"/>
              </a:rPr>
              <a:t>tháng</a:t>
            </a:r>
            <a:r>
              <a:rPr lang="en-US" b="0" i="0" u="none" strike="noStrike" cap="none" dirty="0">
                <a:solidFill>
                  <a:srgbClr val="777777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 dirty="0" err="1">
                <a:solidFill>
                  <a:srgbClr val="777777"/>
                </a:solidFill>
                <a:latin typeface="+mn-lt"/>
                <a:ea typeface="Open Sans"/>
                <a:cs typeface="Open Sans"/>
                <a:sym typeface="Open Sans"/>
              </a:rPr>
              <a:t>tính</a:t>
            </a:r>
            <a:r>
              <a:rPr lang="en-US" b="0" i="0" u="none" strike="noStrike" cap="none" dirty="0">
                <a:solidFill>
                  <a:srgbClr val="777777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 dirty="0" err="1">
                <a:solidFill>
                  <a:srgbClr val="777777"/>
                </a:solidFill>
                <a:latin typeface="+mn-lt"/>
                <a:ea typeface="Open Sans"/>
                <a:cs typeface="Open Sans"/>
                <a:sym typeface="Open Sans"/>
              </a:rPr>
              <a:t>theo</a:t>
            </a:r>
            <a:r>
              <a:rPr lang="en-US" b="0" i="0" u="none" strike="noStrike" cap="none" dirty="0">
                <a:solidFill>
                  <a:srgbClr val="777777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 dirty="0" err="1">
                <a:solidFill>
                  <a:srgbClr val="777777"/>
                </a:solidFill>
                <a:latin typeface="+mn-lt"/>
                <a:ea typeface="Open Sans"/>
                <a:cs typeface="Open Sans"/>
                <a:sym typeface="Open Sans"/>
              </a:rPr>
              <a:t>tỷ</a:t>
            </a:r>
            <a:r>
              <a:rPr lang="en-US" b="0" i="0" u="none" strike="noStrike" cap="none" dirty="0">
                <a:solidFill>
                  <a:srgbClr val="777777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 dirty="0" err="1">
                <a:solidFill>
                  <a:srgbClr val="777777"/>
                </a:solidFill>
                <a:latin typeface="+mn-lt"/>
                <a:ea typeface="Open Sans"/>
                <a:cs typeface="Open Sans"/>
                <a:sym typeface="Open Sans"/>
              </a:rPr>
              <a:t>lệ</a:t>
            </a:r>
            <a:r>
              <a:rPr lang="en-US" b="0" i="0" u="none" strike="noStrike" cap="none" dirty="0">
                <a:solidFill>
                  <a:srgbClr val="777777"/>
                </a:solidFill>
                <a:latin typeface="+mn-lt"/>
                <a:ea typeface="Open Sans"/>
                <a:cs typeface="Open Sans"/>
                <a:sym typeface="Open Sans"/>
              </a:rPr>
              <a:t>)</a:t>
            </a:r>
            <a:endParaRPr dirty="0">
              <a:latin typeface="+mn-lt"/>
            </a:endParaRPr>
          </a:p>
        </p:txBody>
      </p:sp>
      <p:sp>
        <p:nvSpPr>
          <p:cNvPr id="171" name="Google Shape;171;p17"/>
          <p:cNvSpPr txBox="1"/>
          <p:nvPr/>
        </p:nvSpPr>
        <p:spPr>
          <a:xfrm>
            <a:off x="4468713" y="3215975"/>
            <a:ext cx="341074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 err="1">
                <a:solidFill>
                  <a:srgbClr val="FFFFFF"/>
                </a:solidFill>
                <a:latin typeface="+mn-lt"/>
                <a:ea typeface="Montserrat"/>
                <a:cs typeface="Montserrat"/>
                <a:sym typeface="Montserrat"/>
              </a:rPr>
              <a:t>Kỹ</a:t>
            </a:r>
            <a:r>
              <a:rPr lang="en-US" b="1" i="0" u="none" strike="noStrike" cap="none" dirty="0">
                <a:solidFill>
                  <a:srgbClr val="FFFFFF"/>
                </a:solidFill>
                <a:latin typeface="+mn-lt"/>
                <a:ea typeface="Montserrat"/>
                <a:cs typeface="Montserrat"/>
                <a:sym typeface="Montserrat"/>
              </a:rPr>
              <a:t> </a:t>
            </a:r>
            <a:r>
              <a:rPr lang="en-US" b="1" i="0" u="none" strike="noStrike" cap="none" dirty="0" err="1">
                <a:solidFill>
                  <a:srgbClr val="FFFFFF"/>
                </a:solidFill>
                <a:latin typeface="+mn-lt"/>
                <a:ea typeface="Montserrat"/>
                <a:cs typeface="Montserrat"/>
                <a:sym typeface="Montserrat"/>
              </a:rPr>
              <a:t>thuật</a:t>
            </a:r>
            <a:r>
              <a:rPr lang="en-US" b="1" i="0" u="none" strike="noStrike" cap="none" dirty="0">
                <a:solidFill>
                  <a:srgbClr val="FFFFFF"/>
                </a:solidFill>
                <a:latin typeface="+mn-lt"/>
                <a:ea typeface="Montserrat"/>
                <a:cs typeface="Montserrat"/>
                <a:sym typeface="Montserrat"/>
              </a:rPr>
              <a:t> </a:t>
            </a:r>
            <a:r>
              <a:rPr lang="en-US" b="1" i="0" u="none" strike="noStrike" cap="none" dirty="0" err="1">
                <a:solidFill>
                  <a:srgbClr val="FFFFFF"/>
                </a:solidFill>
                <a:latin typeface="+mn-lt"/>
                <a:ea typeface="Montserrat"/>
                <a:cs typeface="Montserrat"/>
                <a:sym typeface="Montserrat"/>
              </a:rPr>
              <a:t>hiện</a:t>
            </a:r>
            <a:r>
              <a:rPr lang="en-US" b="1" i="0" u="none" strike="noStrike" cap="none" dirty="0">
                <a:solidFill>
                  <a:srgbClr val="FFFFFF"/>
                </a:solidFill>
                <a:latin typeface="+mn-lt"/>
                <a:ea typeface="Montserrat"/>
                <a:cs typeface="Montserrat"/>
                <a:sym typeface="Montserrat"/>
              </a:rPr>
              <a:t> </a:t>
            </a:r>
            <a:r>
              <a:rPr lang="en-US" b="1" i="0" u="none" strike="noStrike" cap="none" dirty="0" err="1">
                <a:solidFill>
                  <a:srgbClr val="FFFFFF"/>
                </a:solidFill>
                <a:latin typeface="+mn-lt"/>
                <a:ea typeface="Montserrat"/>
                <a:cs typeface="Montserrat"/>
                <a:sym typeface="Montserrat"/>
              </a:rPr>
              <a:t>trường</a:t>
            </a:r>
            <a:r>
              <a:rPr lang="en-US" b="1" i="0" u="none" strike="noStrike" cap="none" dirty="0">
                <a:solidFill>
                  <a:srgbClr val="FFFFFF"/>
                </a:solidFill>
                <a:latin typeface="+mn-lt"/>
                <a:ea typeface="Montserrat"/>
                <a:cs typeface="Montserrat"/>
                <a:sym typeface="Montserrat"/>
              </a:rPr>
              <a:t> ( </a:t>
            </a:r>
            <a:r>
              <a:rPr lang="en-US" b="1" i="0" u="none" strike="noStrike" cap="none" dirty="0" err="1">
                <a:solidFill>
                  <a:srgbClr val="FFFFFF"/>
                </a:solidFill>
                <a:latin typeface="+mn-lt"/>
                <a:ea typeface="Montserrat"/>
                <a:cs typeface="Montserrat"/>
                <a:sym typeface="Montserrat"/>
              </a:rPr>
              <a:t>không</a:t>
            </a:r>
            <a:r>
              <a:rPr lang="en-US" b="1" i="0" u="none" strike="noStrike" cap="none" dirty="0">
                <a:solidFill>
                  <a:srgbClr val="FFFFFF"/>
                </a:solidFill>
                <a:latin typeface="+mn-lt"/>
                <a:ea typeface="Montserrat"/>
                <a:cs typeface="Montserrat"/>
                <a:sym typeface="Montserrat"/>
              </a:rPr>
              <a:t> bao </a:t>
            </a:r>
            <a:r>
              <a:rPr lang="en-US" b="1" i="0" u="none" strike="noStrike" cap="none" dirty="0" err="1">
                <a:solidFill>
                  <a:srgbClr val="FFFFFF"/>
                </a:solidFill>
                <a:latin typeface="+mn-lt"/>
                <a:ea typeface="Montserrat"/>
                <a:cs typeface="Montserrat"/>
                <a:sym typeface="Montserrat"/>
              </a:rPr>
              <a:t>gồm</a:t>
            </a:r>
            <a:r>
              <a:rPr lang="en-US" b="1" i="0" u="none" strike="noStrike" cap="none" dirty="0">
                <a:solidFill>
                  <a:srgbClr val="FFFFFF"/>
                </a:solidFill>
                <a:latin typeface="+mn-lt"/>
                <a:ea typeface="Montserrat"/>
                <a:cs typeface="Montserrat"/>
                <a:sym typeface="Montserrat"/>
              </a:rPr>
              <a:t> NV </a:t>
            </a:r>
            <a:r>
              <a:rPr lang="en-US" b="1" i="0" u="none" strike="noStrike" cap="none" dirty="0" err="1">
                <a:solidFill>
                  <a:srgbClr val="FFFFFF"/>
                </a:solidFill>
                <a:latin typeface="+mn-lt"/>
                <a:ea typeface="Montserrat"/>
                <a:cs typeface="Montserrat"/>
                <a:sym typeface="Montserrat"/>
              </a:rPr>
              <a:t>vệ</a:t>
            </a:r>
            <a:r>
              <a:rPr lang="en-US" b="1" i="0" u="none" strike="noStrike" cap="none" dirty="0">
                <a:solidFill>
                  <a:srgbClr val="FFFFFF"/>
                </a:solidFill>
                <a:latin typeface="+mn-lt"/>
                <a:ea typeface="Montserrat"/>
                <a:cs typeface="Montserrat"/>
                <a:sym typeface="Montserrat"/>
              </a:rPr>
              <a:t>  </a:t>
            </a:r>
            <a:r>
              <a:rPr lang="en-US" b="1" i="0" u="none" strike="noStrike" cap="none" dirty="0" err="1">
                <a:solidFill>
                  <a:srgbClr val="FFFFFF"/>
                </a:solidFill>
                <a:latin typeface="+mn-lt"/>
                <a:ea typeface="Montserrat"/>
                <a:cs typeface="Montserrat"/>
                <a:sym typeface="Montserrat"/>
              </a:rPr>
              <a:t>sinh</a:t>
            </a:r>
            <a:r>
              <a:rPr lang="en-US" b="1" i="0" u="none" strike="noStrike" cap="none" dirty="0">
                <a:solidFill>
                  <a:srgbClr val="FFFFFF"/>
                </a:solidFill>
                <a:latin typeface="+mn-lt"/>
                <a:ea typeface="Montserrat"/>
                <a:cs typeface="Montserrat"/>
                <a:sym typeface="Montserrat"/>
              </a:rPr>
              <a:t> PV)</a:t>
            </a:r>
            <a:endParaRPr dirty="0">
              <a:latin typeface="+mn-lt"/>
            </a:endParaRPr>
          </a:p>
        </p:txBody>
      </p:sp>
      <p:sp>
        <p:nvSpPr>
          <p:cNvPr id="172" name="Google Shape;172;p17"/>
          <p:cNvSpPr txBox="1"/>
          <p:nvPr/>
        </p:nvSpPr>
        <p:spPr>
          <a:xfrm>
            <a:off x="4587775" y="3671887"/>
            <a:ext cx="301629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>
                <a:solidFill>
                  <a:srgbClr val="CCCCCC"/>
                </a:solidFill>
                <a:latin typeface="+mn-lt"/>
                <a:ea typeface="Open Sans"/>
                <a:cs typeface="Open Sans"/>
                <a:sym typeface="Open Sans"/>
              </a:rPr>
              <a:t>Bố</a:t>
            </a:r>
            <a:r>
              <a:rPr lang="en-US" b="0" i="0" u="none" strike="noStrike" cap="none" dirty="0">
                <a:solidFill>
                  <a:srgbClr val="CCCCCC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 dirty="0" err="1">
                <a:solidFill>
                  <a:srgbClr val="CCCCCC"/>
                </a:solidFill>
                <a:latin typeface="+mn-lt"/>
                <a:ea typeface="Open Sans"/>
                <a:cs typeface="Open Sans"/>
                <a:sym typeface="Open Sans"/>
              </a:rPr>
              <a:t>trí</a:t>
            </a:r>
            <a:r>
              <a:rPr lang="en-US" b="0" i="0" u="none" strike="noStrike" cap="none" dirty="0">
                <a:solidFill>
                  <a:srgbClr val="CCCCCC"/>
                </a:solidFill>
                <a:latin typeface="+mn-lt"/>
                <a:ea typeface="Open Sans"/>
                <a:cs typeface="Open Sans"/>
                <a:sym typeface="Open Sans"/>
              </a:rPr>
              <a:t> xen </a:t>
            </a:r>
            <a:r>
              <a:rPr lang="en-US" b="0" i="0" u="none" strike="noStrike" cap="none" dirty="0" err="1">
                <a:solidFill>
                  <a:srgbClr val="CCCCCC"/>
                </a:solidFill>
                <a:latin typeface="+mn-lt"/>
                <a:ea typeface="Open Sans"/>
                <a:cs typeface="Open Sans"/>
                <a:sym typeface="Open Sans"/>
              </a:rPr>
              <a:t>kẽ</a:t>
            </a:r>
            <a:r>
              <a:rPr lang="en-US" b="0" i="0" u="none" strike="noStrike" cap="none" dirty="0">
                <a:solidFill>
                  <a:srgbClr val="CCCCCC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 dirty="0" err="1">
                <a:solidFill>
                  <a:srgbClr val="CCCCCC"/>
                </a:solidFill>
                <a:latin typeface="+mn-lt"/>
                <a:ea typeface="Open Sans"/>
                <a:cs typeface="Open Sans"/>
                <a:sym typeface="Open Sans"/>
              </a:rPr>
              <a:t>nghỉ</a:t>
            </a:r>
            <a:r>
              <a:rPr lang="en-US" b="0" i="0" u="none" strike="noStrike" cap="none" dirty="0">
                <a:solidFill>
                  <a:srgbClr val="CCCCCC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 dirty="0" err="1">
                <a:solidFill>
                  <a:srgbClr val="CCCCCC"/>
                </a:solidFill>
                <a:latin typeface="+mn-lt"/>
                <a:ea typeface="Open Sans"/>
                <a:cs typeface="Open Sans"/>
                <a:sym typeface="Open Sans"/>
              </a:rPr>
              <a:t>điều</a:t>
            </a:r>
            <a:r>
              <a:rPr lang="en-US" b="0" i="0" u="none" strike="noStrike" cap="none" dirty="0">
                <a:solidFill>
                  <a:srgbClr val="CCCCCC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 dirty="0" err="1">
                <a:solidFill>
                  <a:srgbClr val="CCCCCC"/>
                </a:solidFill>
                <a:latin typeface="+mn-lt"/>
                <a:ea typeface="Open Sans"/>
                <a:cs typeface="Open Sans"/>
                <a:sym typeface="Open Sans"/>
              </a:rPr>
              <a:t>động</a:t>
            </a:r>
            <a:r>
              <a:rPr lang="en-US" b="0" i="0" u="none" strike="noStrike" cap="none" dirty="0">
                <a:solidFill>
                  <a:srgbClr val="CCCCCC"/>
                </a:solidFill>
                <a:latin typeface="+mn-lt"/>
                <a:ea typeface="Open Sans"/>
                <a:cs typeface="Open Sans"/>
                <a:sym typeface="Open Sans"/>
              </a:rPr>
              <a:t> + </a:t>
            </a:r>
            <a:r>
              <a:rPr lang="en-US" b="0" i="0" u="none" strike="noStrike" cap="none" dirty="0" err="1">
                <a:solidFill>
                  <a:srgbClr val="CCCCCC"/>
                </a:solidFill>
                <a:latin typeface="+mn-lt"/>
                <a:ea typeface="Open Sans"/>
                <a:cs typeface="Open Sans"/>
                <a:sym typeface="Open Sans"/>
              </a:rPr>
              <a:t>phép</a:t>
            </a:r>
            <a:r>
              <a:rPr lang="en-US" b="0" i="0" u="none" strike="noStrike" cap="none" dirty="0">
                <a:solidFill>
                  <a:srgbClr val="CCCCCC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 dirty="0" err="1">
                <a:solidFill>
                  <a:srgbClr val="CCCCCC"/>
                </a:solidFill>
                <a:latin typeface="+mn-lt"/>
                <a:ea typeface="Open Sans"/>
                <a:cs typeface="Open Sans"/>
                <a:sym typeface="Open Sans"/>
              </a:rPr>
              <a:t>năm</a:t>
            </a:r>
            <a:r>
              <a:rPr lang="en-US" b="0" i="0" u="none" strike="noStrike" cap="none" dirty="0">
                <a:solidFill>
                  <a:srgbClr val="CCCCCC"/>
                </a:solidFill>
                <a:latin typeface="+mn-lt"/>
                <a:ea typeface="Open Sans"/>
                <a:cs typeface="Open Sans"/>
                <a:sym typeface="Open Sans"/>
              </a:rPr>
              <a:t>.</a:t>
            </a:r>
            <a:endParaRPr dirty="0">
              <a:latin typeface="+mn-lt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8803077" y="2908198"/>
            <a:ext cx="311695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FF6D00"/>
                </a:solidFill>
                <a:latin typeface="+mn-lt"/>
                <a:ea typeface="Montserrat"/>
                <a:cs typeface="Montserrat"/>
                <a:sym typeface="Montserrat"/>
              </a:rPr>
              <a:t>Yêu</a:t>
            </a:r>
            <a:r>
              <a:rPr lang="en-US" sz="2000" b="1" i="0" u="none" strike="noStrike" cap="none" dirty="0">
                <a:solidFill>
                  <a:srgbClr val="FF6D00"/>
                </a:solidFill>
                <a:latin typeface="+mn-lt"/>
                <a:ea typeface="Montserrat"/>
                <a:cs typeface="Montserrat"/>
                <a:sym typeface="Montserrat"/>
              </a:rPr>
              <a:t> </a:t>
            </a:r>
            <a:r>
              <a:rPr lang="en-US" sz="2000" b="1" i="0" u="none" strike="noStrike" cap="none" dirty="0" err="1">
                <a:solidFill>
                  <a:srgbClr val="FF6D00"/>
                </a:solidFill>
                <a:latin typeface="+mn-lt"/>
                <a:ea typeface="Montserrat"/>
                <a:cs typeface="Montserrat"/>
                <a:sym typeface="Montserrat"/>
              </a:rPr>
              <a:t>cầu</a:t>
            </a:r>
            <a:endParaRPr sz="2000" dirty="0">
              <a:latin typeface="+mn-lt"/>
            </a:endParaRPr>
          </a:p>
        </p:txBody>
      </p:sp>
      <p:sp>
        <p:nvSpPr>
          <p:cNvPr id="174" name="Google Shape;174;p17"/>
          <p:cNvSpPr txBox="1"/>
          <p:nvPr/>
        </p:nvSpPr>
        <p:spPr>
          <a:xfrm>
            <a:off x="8413700" y="3671887"/>
            <a:ext cx="296852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Tạo đơn trên </a:t>
            </a:r>
            <a:r>
              <a:rPr lang="en-US" b="1" i="0" u="none" strike="noStrike" cap="none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App Fastcons</a:t>
            </a:r>
            <a:r>
              <a:rPr lang="en-US" b="0" i="0" u="none" strike="noStrike" cap="none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.</a:t>
            </a:r>
            <a:endParaRPr>
              <a:latin typeface="+mn-lt"/>
            </a:endParaRPr>
          </a:p>
        </p:txBody>
      </p:sp>
      <p:sp>
        <p:nvSpPr>
          <p:cNvPr id="175" name="Google Shape;175;p17"/>
          <p:cNvSpPr txBox="1"/>
          <p:nvPr/>
        </p:nvSpPr>
        <p:spPr>
          <a:xfrm>
            <a:off x="8413700" y="3929062"/>
            <a:ext cx="296852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Phê duyệt ít nhất </a:t>
            </a:r>
            <a:r>
              <a:rPr lang="en-US" b="1" i="0" u="none" strike="noStrike" cap="none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01 ngày</a:t>
            </a:r>
            <a:r>
              <a:rPr lang="en-US" b="0" i="0" u="none" strike="noStrike" cap="none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trước khi nghỉ.</a:t>
            </a:r>
            <a:endParaRPr>
              <a:latin typeface="+mn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8053C65-9C62-485A-9884-22464832B77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04099" y="-37095"/>
            <a:ext cx="1350392" cy="13472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8"/>
          <p:cNvSpPr/>
          <p:nvPr/>
        </p:nvSpPr>
        <p:spPr>
          <a:xfrm>
            <a:off x="571500" y="1990725"/>
            <a:ext cx="11049000" cy="3276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4" name="Google Shape;184;p18"/>
          <p:cNvGraphicFramePr/>
          <p:nvPr>
            <p:extLst>
              <p:ext uri="{D42A27DB-BD31-4B8C-83A1-F6EECF244321}">
                <p14:modId xmlns:p14="http://schemas.microsoft.com/office/powerpoint/2010/main" val="3611795018"/>
              </p:ext>
            </p:extLst>
          </p:nvPr>
        </p:nvGraphicFramePr>
        <p:xfrm>
          <a:off x="571500" y="1990725"/>
          <a:ext cx="11049000" cy="3276600"/>
        </p:xfrm>
        <a:graphic>
          <a:graphicData uri="http://schemas.openxmlformats.org/drawingml/2006/table">
            <a:tbl>
              <a:tblPr firstRow="1" bandRow="1">
                <a:noFill/>
                <a:tableStyleId>{EA2B46BA-BB9A-4C33-83FE-715A8171F38A}</a:tableStyleId>
              </a:tblPr>
              <a:tblGrid>
                <a:gridCol w="6233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6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6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FFFFFF"/>
                          </a:solidFill>
                          <a:latin typeface="+mn-lt"/>
                          <a:ea typeface="Montserrat"/>
                          <a:cs typeface="Montserrat"/>
                          <a:sym typeface="Montserrat"/>
                        </a:rPr>
                        <a:t>Lý do nghỉ</a:t>
                      </a:r>
                      <a:endParaRPr sz="1400">
                        <a:latin typeface="+mn-lt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6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FFFFFF"/>
                          </a:solidFill>
                          <a:latin typeface="+mn-lt"/>
                          <a:ea typeface="Montserrat"/>
                          <a:cs typeface="Montserrat"/>
                          <a:sym typeface="Montserrat"/>
                        </a:rPr>
                        <a:t>Số ngày</a:t>
                      </a:r>
                      <a:endParaRPr sz="1400">
                        <a:latin typeface="+mn-lt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6D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FFFFFF"/>
                          </a:solidFill>
                          <a:latin typeface="+mn-lt"/>
                          <a:ea typeface="Montserrat"/>
                          <a:cs typeface="Montserrat"/>
                          <a:sym typeface="Montserrat"/>
                        </a:rPr>
                        <a:t>Chế độ</a:t>
                      </a:r>
                      <a:endParaRPr sz="1400">
                        <a:latin typeface="+mn-lt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6D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 dirty="0" err="1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Bản</a:t>
                      </a:r>
                      <a:r>
                        <a:rPr lang="en-US" sz="1400" b="1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r>
                        <a:rPr lang="en-US" sz="1400" b="1" i="0" u="none" strike="noStrike" cap="none" dirty="0" err="1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thân</a:t>
                      </a:r>
                      <a:r>
                        <a:rPr lang="en-US" sz="1400" b="1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r>
                        <a:rPr lang="en-US" sz="1400" b="1" i="0" u="none" strike="noStrike" cap="none" dirty="0" err="1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kết</a:t>
                      </a:r>
                      <a:r>
                        <a:rPr lang="en-US" sz="1400" b="1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r>
                        <a:rPr lang="en-US" sz="1400" b="1" i="0" u="none" strike="noStrike" cap="none" dirty="0" err="1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hôn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03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Hưởng nguyên lương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Con </a:t>
                      </a:r>
                      <a:r>
                        <a:rPr lang="en-US" sz="1400" b="0" i="0" u="none" strike="noStrike" cap="none" dirty="0" err="1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đẻ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, con </a:t>
                      </a:r>
                      <a:r>
                        <a:rPr lang="en-US" sz="1400" b="0" i="0" u="none" strike="noStrike" cap="none" dirty="0" err="1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nuôi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kết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hôn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02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Hưởng nguyên lương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Cha/</a:t>
                      </a:r>
                      <a:r>
                        <a:rPr lang="en-US" sz="1400" b="0" i="0" u="none" strike="noStrike" cap="none" dirty="0" err="1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Mẹ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 (</a:t>
                      </a:r>
                      <a:r>
                        <a:rPr lang="en-US" sz="1400" b="0" i="0" u="none" strike="noStrike" cap="none" dirty="0" err="1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đẻ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/</a:t>
                      </a:r>
                      <a:r>
                        <a:rPr lang="en-US" sz="1400" b="0" i="0" u="none" strike="noStrike" cap="none" dirty="0" err="1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nuôi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) </a:t>
                      </a:r>
                      <a:r>
                        <a:rPr lang="en-US" sz="1400" b="0" i="0" u="none" strike="noStrike" cap="none" dirty="0" err="1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của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Vợ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/</a:t>
                      </a:r>
                      <a:r>
                        <a:rPr lang="en-US" sz="1400" b="0" i="0" u="none" strike="noStrike" cap="none" dirty="0" err="1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Chồng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; Con </a:t>
                      </a:r>
                      <a:r>
                        <a:rPr lang="en-US" sz="1400" b="0" i="0" u="none" strike="noStrike" cap="none" dirty="0" err="1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mất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03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Hưởng nguyên lương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 err="1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Ông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/</a:t>
                      </a:r>
                      <a:r>
                        <a:rPr lang="en-US" sz="1400" b="0" i="0" u="none" strike="noStrike" cap="none" dirty="0" err="1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Bà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; Anh/</a:t>
                      </a:r>
                      <a:r>
                        <a:rPr lang="en-US" sz="1400" b="0" i="0" u="none" strike="noStrike" cap="none" dirty="0" err="1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Chị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/Em </a:t>
                      </a:r>
                      <a:r>
                        <a:rPr lang="en-US" sz="1400" b="0" i="0" u="none" strike="noStrike" cap="none" dirty="0" err="1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ruột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mất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; </a:t>
                      </a:r>
                      <a:r>
                        <a:rPr lang="en-US" sz="1400" b="0" i="0" u="none" strike="noStrike" cap="none" dirty="0" err="1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Người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thân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kết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hôn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 err="1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Nghỉ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không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lương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 err="1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Bị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 tai </a:t>
                      </a:r>
                      <a:r>
                        <a:rPr lang="en-US" sz="1400" b="0" i="0" u="none" strike="noStrike" cap="none" dirty="0" err="1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nạn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lao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động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 err="1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Hưởng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lương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trong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thời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gian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điều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trị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đến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khi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vết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thương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ổn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chemeClr val="tx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định</a:t>
                      </a:r>
                      <a:endParaRPr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5" name="Google Shape;185;p18"/>
          <p:cNvSpPr txBox="1"/>
          <p:nvPr/>
        </p:nvSpPr>
        <p:spPr>
          <a:xfrm>
            <a:off x="368300" y="252412"/>
            <a:ext cx="116205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263238"/>
                </a:solidFill>
                <a:latin typeface="+mn-lt"/>
                <a:ea typeface="Montserrat ExtraBold"/>
                <a:cs typeface="Montserrat ExtraBold"/>
                <a:sym typeface="Montserrat ExtraBold"/>
              </a:rPr>
              <a:t>CÁC LOẠI NGHỈ KHÁC</a:t>
            </a:r>
            <a:endParaRPr b="1" dirty="0">
              <a:latin typeface="+mn-lt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571500" y="1123950"/>
            <a:ext cx="762000" cy="5715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 txBox="1"/>
          <p:nvPr/>
        </p:nvSpPr>
        <p:spPr>
          <a:xfrm>
            <a:off x="571500" y="5410200"/>
            <a:ext cx="11049000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50" b="0" i="1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Open Sans"/>
                <a:cs typeface="Open Sans"/>
                <a:sym typeface="Open Sans"/>
              </a:rPr>
              <a:t>Lưu ý: NLĐ </a:t>
            </a:r>
            <a:r>
              <a:rPr lang="en-US" sz="105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Open Sans"/>
                <a:cs typeface="Open Sans"/>
                <a:sym typeface="Open Sans"/>
              </a:rPr>
              <a:t>N</a:t>
            </a:r>
            <a:r>
              <a:rPr lang="en-US" sz="1050" b="0" i="1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Open Sans"/>
                <a:cs typeface="Open Sans"/>
                <a:sym typeface="Open Sans"/>
              </a:rPr>
              <a:t>ghỉ</a:t>
            </a:r>
            <a:r>
              <a:rPr lang="en-US" sz="1050" b="0" i="1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050" b="0" i="1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Open Sans"/>
                <a:cs typeface="Open Sans"/>
                <a:sym typeface="Open Sans"/>
              </a:rPr>
              <a:t>thêm</a:t>
            </a:r>
            <a:r>
              <a:rPr lang="en-US" sz="1050" b="0" i="1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050" b="0" i="1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Open Sans"/>
                <a:cs typeface="Open Sans"/>
                <a:sym typeface="Open Sans"/>
              </a:rPr>
              <a:t>phải</a:t>
            </a:r>
            <a:r>
              <a:rPr lang="en-US" sz="1050" b="0" i="1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050" b="0" i="1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Open Sans"/>
                <a:cs typeface="Open Sans"/>
                <a:sym typeface="Open Sans"/>
              </a:rPr>
              <a:t>thỏa</a:t>
            </a:r>
            <a:r>
              <a:rPr lang="en-US" sz="1050" b="0" i="1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050" b="0" i="1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Open Sans"/>
                <a:cs typeface="Open Sans"/>
                <a:sym typeface="Open Sans"/>
              </a:rPr>
              <a:t>thuận</a:t>
            </a:r>
            <a:r>
              <a:rPr lang="en-US" sz="1050" b="0" i="1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050" b="0" i="1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Open Sans"/>
                <a:cs typeface="Open Sans"/>
                <a:sym typeface="Open Sans"/>
              </a:rPr>
              <a:t>với</a:t>
            </a:r>
            <a:r>
              <a:rPr lang="en-US" sz="1050" b="0" i="1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Open Sans"/>
                <a:cs typeface="Open Sans"/>
                <a:sym typeface="Open Sans"/>
              </a:rPr>
              <a:t> NSDLĐ.</a:t>
            </a:r>
            <a:r>
              <a:rPr lang="en-US" sz="105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 Trường </a:t>
            </a:r>
            <a:r>
              <a:rPr lang="en-US" sz="105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hợp</a:t>
            </a:r>
            <a:r>
              <a:rPr lang="en-US" sz="105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 </a:t>
            </a:r>
            <a:r>
              <a:rPr lang="en-US" sz="105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không</a:t>
            </a:r>
            <a:r>
              <a:rPr lang="en-US" sz="105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 </a:t>
            </a:r>
            <a:r>
              <a:rPr lang="en-US" sz="105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xin</a:t>
            </a:r>
            <a:r>
              <a:rPr lang="en-US" sz="105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 </a:t>
            </a:r>
            <a:r>
              <a:rPr lang="en-US" sz="105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phép</a:t>
            </a:r>
            <a:r>
              <a:rPr lang="en-US" sz="105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 </a:t>
            </a:r>
            <a:r>
              <a:rPr lang="en-US" sz="105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và</a:t>
            </a:r>
            <a:r>
              <a:rPr lang="en-US" sz="105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 </a:t>
            </a:r>
            <a:r>
              <a:rPr lang="en-US" sz="105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làm</a:t>
            </a:r>
            <a:r>
              <a:rPr lang="en-US" sz="105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 </a:t>
            </a:r>
            <a:r>
              <a:rPr lang="en-US" sz="105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đơn</a:t>
            </a:r>
            <a:r>
              <a:rPr lang="en-US" sz="105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 </a:t>
            </a:r>
            <a:r>
              <a:rPr lang="en-US" sz="105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bị</a:t>
            </a:r>
            <a:r>
              <a:rPr lang="en-US" sz="105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 </a:t>
            </a:r>
            <a:r>
              <a:rPr lang="en-US" sz="105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xem</a:t>
            </a:r>
            <a:r>
              <a:rPr lang="en-US" sz="105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 </a:t>
            </a:r>
            <a:r>
              <a:rPr lang="en-US" sz="105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như</a:t>
            </a:r>
            <a:r>
              <a:rPr lang="en-US" sz="105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 </a:t>
            </a:r>
            <a:r>
              <a:rPr lang="en-US" sz="105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nghỉ</a:t>
            </a:r>
            <a:r>
              <a:rPr lang="en-US" sz="105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 </a:t>
            </a:r>
            <a:r>
              <a:rPr lang="en-US" sz="105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không</a:t>
            </a:r>
            <a:r>
              <a:rPr lang="en-US" sz="105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 </a:t>
            </a:r>
            <a:r>
              <a:rPr lang="en-US" sz="105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ký</a:t>
            </a:r>
            <a:r>
              <a:rPr lang="en-US" sz="105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 do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050" i="1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5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Công ty </a:t>
            </a:r>
            <a:r>
              <a:rPr lang="en-US" sz="105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có</a:t>
            </a:r>
            <a:r>
              <a:rPr lang="en-US" sz="105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 </a:t>
            </a:r>
            <a:r>
              <a:rPr lang="en-US" sz="105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quyền</a:t>
            </a:r>
            <a:r>
              <a:rPr lang="en-US" sz="105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 </a:t>
            </a:r>
            <a:r>
              <a:rPr lang="en-US" sz="105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quyết</a:t>
            </a:r>
            <a:r>
              <a:rPr lang="en-US" sz="105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 </a:t>
            </a:r>
            <a:r>
              <a:rPr lang="en-US" sz="105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định</a:t>
            </a:r>
            <a:r>
              <a:rPr lang="en-US" sz="105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 </a:t>
            </a:r>
            <a:r>
              <a:rPr lang="en-US" sz="105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về</a:t>
            </a:r>
            <a:r>
              <a:rPr lang="en-US" sz="105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 </a:t>
            </a:r>
            <a:r>
              <a:rPr lang="en-US" sz="105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việc</a:t>
            </a:r>
            <a:r>
              <a:rPr lang="en-US" sz="105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 </a:t>
            </a:r>
            <a:r>
              <a:rPr lang="en-US" sz="105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nghỉ</a:t>
            </a:r>
            <a:r>
              <a:rPr lang="en-US" sz="105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 </a:t>
            </a:r>
            <a:r>
              <a:rPr lang="en-US" sz="105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không</a:t>
            </a:r>
            <a:r>
              <a:rPr lang="en-US" sz="105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 </a:t>
            </a:r>
            <a:r>
              <a:rPr lang="en-US" sz="105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hưởng</a:t>
            </a:r>
            <a:r>
              <a:rPr lang="en-US" sz="105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 </a:t>
            </a:r>
            <a:r>
              <a:rPr lang="en-US" sz="105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lương</a:t>
            </a:r>
            <a:r>
              <a:rPr lang="en-US" sz="105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/</a:t>
            </a:r>
            <a:r>
              <a:rPr lang="en-US" sz="105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có</a:t>
            </a:r>
            <a:r>
              <a:rPr lang="en-US" sz="105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 </a:t>
            </a:r>
            <a:r>
              <a:rPr lang="en-US" sz="105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lương</a:t>
            </a:r>
            <a:r>
              <a:rPr lang="en-US" sz="105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 </a:t>
            </a:r>
            <a:r>
              <a:rPr lang="en-US" sz="105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của</a:t>
            </a:r>
            <a:r>
              <a:rPr lang="en-US" sz="105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 NLĐ </a:t>
            </a:r>
            <a:r>
              <a:rPr lang="en-US" sz="105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tùy</a:t>
            </a:r>
            <a:r>
              <a:rPr lang="en-US" sz="105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 </a:t>
            </a:r>
            <a:r>
              <a:rPr lang="en-US" sz="105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theo</a:t>
            </a:r>
            <a:r>
              <a:rPr lang="en-US" sz="105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 </a:t>
            </a:r>
            <a:r>
              <a:rPr lang="en-US" sz="105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từng</a:t>
            </a:r>
            <a:r>
              <a:rPr lang="en-US" sz="105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 </a:t>
            </a:r>
            <a:r>
              <a:rPr lang="en-US" sz="105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trường</a:t>
            </a:r>
            <a:r>
              <a:rPr lang="en-US" sz="105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 </a:t>
            </a:r>
            <a:r>
              <a:rPr lang="en-US" sz="105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hợp</a:t>
            </a:r>
            <a:r>
              <a:rPr lang="en-US" sz="105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 </a:t>
            </a:r>
            <a:r>
              <a:rPr lang="en-US" sz="105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cụ</a:t>
            </a:r>
            <a:r>
              <a:rPr lang="en-US" sz="105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 </a:t>
            </a:r>
            <a:r>
              <a:rPr lang="en-US" sz="105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thể</a:t>
            </a:r>
            <a:r>
              <a:rPr lang="en-US" sz="105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050" i="1" dirty="0">
              <a:latin typeface="Neue Einstellung" panose="020B0604020202020204" charset="0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8" name="Google Shape;188;p18"/>
          <p:cNvSpPr/>
          <p:nvPr/>
        </p:nvSpPr>
        <p:spPr>
          <a:xfrm>
            <a:off x="571500" y="3052762"/>
            <a:ext cx="6233517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6805017" y="3052762"/>
            <a:ext cx="142875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8233767" y="3052762"/>
            <a:ext cx="338673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571500" y="3605212"/>
            <a:ext cx="6233517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6805017" y="3605212"/>
            <a:ext cx="142875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8233767" y="3605212"/>
            <a:ext cx="338673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571500" y="4157662"/>
            <a:ext cx="6233517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6805017" y="4157662"/>
            <a:ext cx="142875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8233767" y="4157662"/>
            <a:ext cx="338673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571500" y="4710112"/>
            <a:ext cx="6233517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6805017" y="4710112"/>
            <a:ext cx="142875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8233767" y="4710112"/>
            <a:ext cx="338673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1F9F7C-B7DA-76F8-9538-A9D9624F13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6058" y="-25510"/>
            <a:ext cx="1350392" cy="13472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85900"/>
            <a:ext cx="5286375" cy="221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895725"/>
            <a:ext cx="5286375" cy="221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4743450"/>
            <a:ext cx="5286375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1647825"/>
            <a:ext cx="528637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7250" y="172402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7250" y="4133850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9"/>
          <p:cNvSpPr txBox="1"/>
          <p:nvPr/>
        </p:nvSpPr>
        <p:spPr>
          <a:xfrm>
            <a:off x="342900" y="190500"/>
            <a:ext cx="116205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chemeClr val="tx1"/>
                </a:solidFill>
                <a:latin typeface="+mn-lt"/>
                <a:ea typeface="Montserrat ExtraBold"/>
                <a:cs typeface="Montserrat ExtraBold"/>
                <a:sym typeface="Montserrat ExtraBold"/>
              </a:rPr>
              <a:t>4. CHẤM CÔNG &amp; ĐỒNG PHỤC</a:t>
            </a:r>
            <a:endParaRPr sz="28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14" name="Google Shape;214;p19"/>
          <p:cNvSpPr/>
          <p:nvPr/>
        </p:nvSpPr>
        <p:spPr>
          <a:xfrm>
            <a:off x="571500" y="1123950"/>
            <a:ext cx="762000" cy="5715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0" i="0" u="none" strike="noStrike" cap="none">
              <a:solidFill>
                <a:schemeClr val="tx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"/>
          <p:cNvSpPr txBox="1"/>
          <p:nvPr/>
        </p:nvSpPr>
        <p:spPr>
          <a:xfrm>
            <a:off x="857250" y="1724025"/>
            <a:ext cx="500062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accent6">
                    <a:lumMod val="75000"/>
                  </a:schemeClr>
                </a:solidFill>
                <a:latin typeface="+mn-lt"/>
                <a:ea typeface="Montserrat"/>
                <a:cs typeface="Montserrat"/>
                <a:sym typeface="Montserrat"/>
              </a:rPr>
              <a:t> </a:t>
            </a:r>
            <a:r>
              <a:rPr lang="en-US" sz="2000" b="1" i="0" u="none" strike="noStrike" cap="none" dirty="0" err="1">
                <a:solidFill>
                  <a:schemeClr val="accent6">
                    <a:lumMod val="75000"/>
                  </a:schemeClr>
                </a:solidFill>
                <a:latin typeface="+mn-lt"/>
                <a:ea typeface="Montserrat"/>
                <a:cs typeface="Montserrat"/>
                <a:sym typeface="Montserrat"/>
              </a:rPr>
              <a:t>Chấm</a:t>
            </a:r>
            <a:r>
              <a:rPr lang="en-US" sz="2000" b="1" i="0" u="none" strike="noStrike" cap="none" dirty="0">
                <a:solidFill>
                  <a:schemeClr val="accent6">
                    <a:lumMod val="75000"/>
                  </a:schemeClr>
                </a:solidFill>
                <a:latin typeface="+mn-lt"/>
                <a:ea typeface="Montserrat"/>
                <a:cs typeface="Montserrat"/>
                <a:sym typeface="Montserrat"/>
              </a:rPr>
              <a:t> </a:t>
            </a:r>
            <a:r>
              <a:rPr lang="en-US" sz="2000" b="1" i="0" u="none" strike="noStrike" cap="none" dirty="0" err="1">
                <a:solidFill>
                  <a:schemeClr val="accent6">
                    <a:lumMod val="75000"/>
                  </a:schemeClr>
                </a:solidFill>
                <a:latin typeface="+mn-lt"/>
                <a:ea typeface="Montserrat"/>
                <a:cs typeface="Montserrat"/>
                <a:sym typeface="Montserrat"/>
              </a:rPr>
              <a:t>công</a:t>
            </a:r>
            <a:r>
              <a:rPr lang="en-US" sz="2000" b="1" i="0" u="none" strike="noStrike" cap="none" dirty="0">
                <a:solidFill>
                  <a:schemeClr val="accent6">
                    <a:lumMod val="75000"/>
                  </a:schemeClr>
                </a:solidFill>
                <a:latin typeface="+mn-lt"/>
                <a:ea typeface="Montserrat"/>
                <a:cs typeface="Montserrat"/>
                <a:sym typeface="Montserrat"/>
              </a:rPr>
              <a:t> &amp; Lương</a:t>
            </a:r>
            <a:endParaRPr sz="2000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216" name="Google Shape;216;p19"/>
          <p:cNvSpPr txBox="1"/>
          <p:nvPr/>
        </p:nvSpPr>
        <p:spPr>
          <a:xfrm>
            <a:off x="857250" y="4133850"/>
            <a:ext cx="500062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accent6">
                    <a:lumMod val="75000"/>
                  </a:schemeClr>
                </a:solidFill>
                <a:latin typeface="+mn-lt"/>
                <a:ea typeface="Montserrat"/>
                <a:cs typeface="Montserrat"/>
                <a:sym typeface="Montserrat"/>
              </a:rPr>
              <a:t> </a:t>
            </a:r>
            <a:r>
              <a:rPr lang="en-US" sz="2000" b="1" i="0" u="none" strike="noStrike" cap="none" dirty="0" err="1">
                <a:solidFill>
                  <a:schemeClr val="accent6">
                    <a:lumMod val="75000"/>
                  </a:schemeClr>
                </a:solidFill>
                <a:latin typeface="+mn-lt"/>
                <a:ea typeface="Montserrat"/>
                <a:cs typeface="Montserrat"/>
                <a:sym typeface="Montserrat"/>
              </a:rPr>
              <a:t>Đồng</a:t>
            </a:r>
            <a:r>
              <a:rPr lang="en-US" sz="2000" b="1" i="0" u="none" strike="noStrike" cap="none" dirty="0">
                <a:solidFill>
                  <a:schemeClr val="accent6">
                    <a:lumMod val="75000"/>
                  </a:schemeClr>
                </a:solidFill>
                <a:latin typeface="+mn-lt"/>
                <a:ea typeface="Montserrat"/>
                <a:cs typeface="Montserrat"/>
                <a:sym typeface="Montserrat"/>
              </a:rPr>
              <a:t> </a:t>
            </a:r>
            <a:r>
              <a:rPr lang="en-US" sz="2000" b="1" i="0" u="none" strike="noStrike" cap="none" dirty="0" err="1">
                <a:solidFill>
                  <a:schemeClr val="accent6">
                    <a:lumMod val="75000"/>
                  </a:schemeClr>
                </a:solidFill>
                <a:latin typeface="+mn-lt"/>
                <a:ea typeface="Montserrat"/>
                <a:cs typeface="Montserrat"/>
                <a:sym typeface="Montserrat"/>
              </a:rPr>
              <a:t>phục</a:t>
            </a:r>
            <a:endParaRPr sz="2000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217" name="Google Shape;217;p19"/>
          <p:cNvSpPr txBox="1"/>
          <p:nvPr/>
        </p:nvSpPr>
        <p:spPr>
          <a:xfrm>
            <a:off x="6401990" y="4933950"/>
            <a:ext cx="515064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chemeClr val="tx1"/>
                </a:solidFill>
                <a:latin typeface="+mn-lt"/>
                <a:ea typeface="Montserrat"/>
                <a:cs typeface="Montserrat"/>
                <a:sym typeface="Montserrat"/>
              </a:rPr>
              <a:t>TRỢ CẤP GIÀY BẢO HỘ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218" name="Google Shape;218;p19"/>
          <p:cNvSpPr txBox="1"/>
          <p:nvPr/>
        </p:nvSpPr>
        <p:spPr>
          <a:xfrm>
            <a:off x="6524625" y="5248275"/>
            <a:ext cx="490537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&gt; 1 năm: </a:t>
            </a:r>
            <a:r>
              <a:rPr lang="en-US" b="1" i="0" u="none" strike="noStrike" cap="none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600.000 VNĐ</a:t>
            </a:r>
            <a:r>
              <a:rPr lang="en-US" b="0" i="0" u="none" strike="noStrike" cap="none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/ năm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219" name="Google Shape;219;p19"/>
          <p:cNvSpPr txBox="1"/>
          <p:nvPr/>
        </p:nvSpPr>
        <p:spPr>
          <a:xfrm>
            <a:off x="6524625" y="5505450"/>
            <a:ext cx="490537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&lt; 1 năm: </a:t>
            </a:r>
            <a:r>
              <a:rPr lang="en-US" b="1" i="0" u="none" strike="noStrike" cap="none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300.000 VNĐ</a:t>
            </a:r>
            <a:r>
              <a:rPr lang="en-US" b="0" i="0" u="none" strike="noStrike" cap="none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/ năm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220" name="Google Shape;220;p19"/>
          <p:cNvSpPr txBox="1"/>
          <p:nvPr/>
        </p:nvSpPr>
        <p:spPr>
          <a:xfrm>
            <a:off x="1143000" y="2266950"/>
            <a:ext cx="44767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App </a:t>
            </a:r>
            <a:r>
              <a:rPr lang="en-US" b="1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Fastcons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(Check-in/out).</a:t>
            </a:r>
            <a:endParaRPr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21" name="Google Shape;221;p19"/>
          <p:cNvSpPr txBox="1"/>
          <p:nvPr/>
        </p:nvSpPr>
        <p:spPr>
          <a:xfrm>
            <a:off x="1143000" y="2667000"/>
            <a:ext cx="447675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Trước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8h00: 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Đúng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giờ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| Sau 5h00: 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Đi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muộn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. 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Xử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lý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theo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quy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định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công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ty</a:t>
            </a:r>
            <a:endParaRPr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22" name="Google Shape;222;p19"/>
          <p:cNvSpPr txBox="1"/>
          <p:nvPr/>
        </p:nvSpPr>
        <p:spPr>
          <a:xfrm>
            <a:off x="1047750" y="3295010"/>
            <a:ext cx="55372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Thanh 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toán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lương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ngày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15 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hàng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tháng</a:t>
            </a:r>
            <a:r>
              <a:rPr lang="en-US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i="1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(</a:t>
            </a:r>
            <a:r>
              <a:rPr lang="en-US" i="1" dirty="0" err="1">
                <a:solidFill>
                  <a:schemeClr val="tx1"/>
                </a:solidFill>
                <a:latin typeface="+mn-lt"/>
              </a:rPr>
              <a:t>chốt</a:t>
            </a:r>
            <a:r>
              <a:rPr lang="en-US" i="1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i="1" dirty="0" err="1">
                <a:solidFill>
                  <a:schemeClr val="tx1"/>
                </a:solidFill>
                <a:latin typeface="+mn-lt"/>
              </a:rPr>
              <a:t>ngày</a:t>
            </a:r>
            <a:r>
              <a:rPr lang="en-US" i="1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i="1" dirty="0" err="1">
                <a:solidFill>
                  <a:schemeClr val="tx1"/>
                </a:solidFill>
                <a:latin typeface="+mn-lt"/>
              </a:rPr>
              <a:t>công</a:t>
            </a:r>
            <a:r>
              <a:rPr lang="en-US" i="1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i="1" dirty="0" err="1">
                <a:solidFill>
                  <a:schemeClr val="tx1"/>
                </a:solidFill>
                <a:latin typeface="+mn-lt"/>
              </a:rPr>
              <a:t>vào</a:t>
            </a:r>
            <a:r>
              <a:rPr lang="en-US" i="1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i="1" dirty="0" err="1">
                <a:solidFill>
                  <a:schemeClr val="tx1"/>
                </a:solidFill>
                <a:latin typeface="+mn-lt"/>
              </a:rPr>
              <a:t>ngày</a:t>
            </a:r>
            <a:r>
              <a:rPr lang="en-US" i="1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i="1" dirty="0" err="1">
                <a:solidFill>
                  <a:schemeClr val="tx1"/>
                </a:solidFill>
                <a:latin typeface="+mn-lt"/>
              </a:rPr>
              <a:t>cuối</a:t>
            </a:r>
            <a:r>
              <a:rPr lang="en-US" i="1" dirty="0">
                <a:solidFill>
                  <a:schemeClr val="tx1"/>
                </a:solidFill>
                <a:latin typeface="+mn-lt"/>
              </a:rPr>
              <a:t> </a:t>
            </a:r>
          </a:p>
          <a:p>
            <a:r>
              <a:rPr lang="en-US" i="1" dirty="0" err="1">
                <a:solidFill>
                  <a:schemeClr val="tx1"/>
                </a:solidFill>
                <a:latin typeface="+mn-lt"/>
              </a:rPr>
              <a:t>cùng</a:t>
            </a:r>
            <a:r>
              <a:rPr lang="en-US" i="1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i="1" dirty="0" err="1">
                <a:solidFill>
                  <a:schemeClr val="tx1"/>
                </a:solidFill>
                <a:latin typeface="+mn-lt"/>
              </a:rPr>
              <a:t>hàng</a:t>
            </a:r>
            <a:r>
              <a:rPr lang="en-US" i="1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i="1" dirty="0" err="1">
                <a:solidFill>
                  <a:schemeClr val="tx1"/>
                </a:solidFill>
                <a:latin typeface="+mn-lt"/>
              </a:rPr>
              <a:t>tháng</a:t>
            </a:r>
            <a:r>
              <a:rPr lang="en-US" i="1" dirty="0">
                <a:solidFill>
                  <a:schemeClr val="tx1"/>
                </a:solidFill>
                <a:latin typeface="+mn-lt"/>
              </a:rPr>
              <a:t>)</a:t>
            </a:r>
            <a:endParaRPr i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23" name="Google Shape;223;p19"/>
          <p:cNvSpPr txBox="1"/>
          <p:nvPr/>
        </p:nvSpPr>
        <p:spPr>
          <a:xfrm>
            <a:off x="1143000" y="4676775"/>
            <a:ext cx="44767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VP: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Thứ</a:t>
            </a:r>
            <a:r>
              <a:rPr lang="en-US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2: </a:t>
            </a:r>
            <a:r>
              <a:rPr lang="en-US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sơ</a:t>
            </a:r>
            <a:r>
              <a:rPr lang="en-US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mi </a:t>
            </a:r>
            <a:r>
              <a:rPr lang="en-US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trắng</a:t>
            </a:r>
            <a:r>
              <a:rPr lang="en-US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quần</a:t>
            </a:r>
            <a:r>
              <a:rPr lang="en-US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tây</a:t>
            </a:r>
            <a:r>
              <a:rPr lang="en-US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– </a:t>
            </a:r>
            <a:r>
              <a:rPr lang="en-US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Thứ</a:t>
            </a:r>
            <a:r>
              <a:rPr lang="en-US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3: </a:t>
            </a:r>
            <a:r>
              <a:rPr lang="en-US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áo</a:t>
            </a:r>
            <a:r>
              <a:rPr lang="en-US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polo </a:t>
            </a:r>
            <a:r>
              <a:rPr lang="en-US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trắng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.</a:t>
            </a:r>
            <a:endParaRPr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24" name="Google Shape;224;p19"/>
          <p:cNvSpPr txBox="1"/>
          <p:nvPr/>
        </p:nvSpPr>
        <p:spPr>
          <a:xfrm>
            <a:off x="1143000" y="5076825"/>
            <a:ext cx="5068490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Công </a:t>
            </a:r>
            <a:r>
              <a:rPr lang="en-US" b="1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trình</a:t>
            </a:r>
            <a:r>
              <a:rPr lang="en-US" b="1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: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Đầy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đủ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bảo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hộ</a:t>
            </a:r>
            <a:r>
              <a:rPr lang="en-US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và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dụng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cụ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theo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yêu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cầu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của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từng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Dự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án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(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được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cấp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phát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trước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khi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nhận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việc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)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25" name="Google Shape;225;p19"/>
          <p:cNvSpPr txBox="1"/>
          <p:nvPr/>
        </p:nvSpPr>
        <p:spPr>
          <a:xfrm>
            <a:off x="1063626" y="5803426"/>
            <a:ext cx="44767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Cấp</a:t>
            </a:r>
            <a:r>
              <a:rPr lang="en-US" b="1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1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phát</a:t>
            </a:r>
            <a:r>
              <a:rPr lang="en-US" b="1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: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Đồ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BH (2 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lần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/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năm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), 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Nón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(1 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lần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/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năm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).</a:t>
            </a:r>
            <a:endParaRPr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27" name="Google Shape;227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7250" y="229552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7250" y="269557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12800" y="336708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7250" y="470535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7250" y="510540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12800" y="5891213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A046F81-BBB4-59E9-E8DA-7983DDAD344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86058" y="-25510"/>
            <a:ext cx="1350392" cy="13472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0979" y="5476875"/>
            <a:ext cx="1104900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6262" y="2376487"/>
            <a:ext cx="5376863" cy="285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2376487"/>
            <a:ext cx="53816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331368" y="565785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7250" y="261461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24625" y="2614612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0"/>
          <p:cNvSpPr txBox="1"/>
          <p:nvPr/>
        </p:nvSpPr>
        <p:spPr>
          <a:xfrm>
            <a:off x="428625" y="335756"/>
            <a:ext cx="116205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chemeClr val="tx1"/>
                </a:solidFill>
                <a:latin typeface="+mn-lt"/>
                <a:ea typeface="Montserrat ExtraBold"/>
                <a:cs typeface="Montserrat ExtraBold"/>
                <a:sym typeface="Montserrat ExtraBold"/>
              </a:rPr>
              <a:t>QUY ĐỊNH CHUNG</a:t>
            </a:r>
            <a:endParaRPr sz="28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571500" y="1123950"/>
            <a:ext cx="762000" cy="5715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0" i="0" u="none" strike="noStrike" cap="none">
              <a:solidFill>
                <a:schemeClr val="tx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0"/>
          <p:cNvSpPr txBox="1"/>
          <p:nvPr/>
        </p:nvSpPr>
        <p:spPr>
          <a:xfrm>
            <a:off x="857250" y="2614612"/>
            <a:ext cx="510063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chemeClr val="accent6">
                    <a:lumMod val="75000"/>
                  </a:schemeClr>
                </a:solidFill>
                <a:latin typeface="+mn-lt"/>
                <a:ea typeface="Montserrat"/>
                <a:cs typeface="Montserrat"/>
                <a:sym typeface="Montserrat"/>
              </a:rPr>
              <a:t> </a:t>
            </a:r>
            <a:r>
              <a:rPr lang="en-US" sz="2000" b="1" i="0" u="none" strike="noStrike" cap="none" dirty="0">
                <a:solidFill>
                  <a:schemeClr val="accent6">
                    <a:lumMod val="75000"/>
                  </a:schemeClr>
                </a:solidFill>
                <a:latin typeface="+mn-lt"/>
                <a:ea typeface="Montserrat"/>
                <a:cs typeface="Montserrat"/>
                <a:sym typeface="Montserrat"/>
              </a:rPr>
              <a:t>Báo </a:t>
            </a:r>
            <a:r>
              <a:rPr lang="en-US" sz="2000" b="1" i="0" u="none" strike="noStrike" cap="none" dirty="0" err="1">
                <a:solidFill>
                  <a:schemeClr val="accent6">
                    <a:lumMod val="75000"/>
                  </a:schemeClr>
                </a:solidFill>
                <a:latin typeface="+mn-lt"/>
                <a:ea typeface="Montserrat"/>
                <a:cs typeface="Montserrat"/>
                <a:sym typeface="Montserrat"/>
              </a:rPr>
              <a:t>cáo</a:t>
            </a:r>
            <a:r>
              <a:rPr lang="en-US" sz="2000" b="1" i="0" u="none" strike="noStrike" cap="none" dirty="0">
                <a:solidFill>
                  <a:schemeClr val="accent6">
                    <a:lumMod val="75000"/>
                  </a:schemeClr>
                </a:solidFill>
                <a:latin typeface="+mn-lt"/>
                <a:ea typeface="Montserrat"/>
                <a:cs typeface="Montserrat"/>
                <a:sym typeface="Montserrat"/>
              </a:rPr>
              <a:t> &amp; </a:t>
            </a:r>
            <a:r>
              <a:rPr lang="en-US" sz="2000" b="1" i="0" u="none" strike="noStrike" cap="none" dirty="0" err="1">
                <a:solidFill>
                  <a:schemeClr val="accent6">
                    <a:lumMod val="75000"/>
                  </a:schemeClr>
                </a:solidFill>
                <a:latin typeface="+mn-lt"/>
                <a:ea typeface="Montserrat"/>
                <a:cs typeface="Montserrat"/>
                <a:sym typeface="Montserrat"/>
              </a:rPr>
              <a:t>Giờ</a:t>
            </a:r>
            <a:r>
              <a:rPr lang="en-US" sz="2000" b="1" i="0" u="none" strike="noStrike" cap="none" dirty="0">
                <a:solidFill>
                  <a:schemeClr val="accent6">
                    <a:lumMod val="75000"/>
                  </a:schemeClr>
                </a:solidFill>
                <a:latin typeface="+mn-lt"/>
                <a:ea typeface="Montserrat"/>
                <a:cs typeface="Montserrat"/>
                <a:sym typeface="Montserrat"/>
              </a:rPr>
              <a:t> </a:t>
            </a:r>
            <a:r>
              <a:rPr lang="en-US" sz="2000" b="1" i="0" u="none" strike="noStrike" cap="none" dirty="0" err="1">
                <a:solidFill>
                  <a:schemeClr val="accent6">
                    <a:lumMod val="75000"/>
                  </a:schemeClr>
                </a:solidFill>
                <a:latin typeface="+mn-lt"/>
                <a:ea typeface="Montserrat"/>
                <a:cs typeface="Montserrat"/>
                <a:sym typeface="Montserrat"/>
              </a:rPr>
              <a:t>giấc</a:t>
            </a:r>
            <a:endParaRPr sz="2000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248" name="Google Shape;248;p20"/>
          <p:cNvSpPr txBox="1"/>
          <p:nvPr/>
        </p:nvSpPr>
        <p:spPr>
          <a:xfrm>
            <a:off x="857250" y="2985856"/>
            <a:ext cx="528955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Ra </a:t>
            </a:r>
            <a:r>
              <a:rPr lang="en-US" b="1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ngoài</a:t>
            </a:r>
            <a:r>
              <a:rPr lang="en-US" b="1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: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Cần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phê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duyệt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của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Quản 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lý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&amp; 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tuân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thủ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thời</a:t>
            </a:r>
            <a:r>
              <a:rPr lang="en-US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gian</a:t>
            </a:r>
            <a:r>
              <a:rPr lang="en-US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cho</a:t>
            </a:r>
            <a:r>
              <a:rPr lang="en-US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phép</a:t>
            </a:r>
            <a:endParaRPr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49" name="Google Shape;249;p20"/>
          <p:cNvSpPr txBox="1"/>
          <p:nvPr/>
        </p:nvSpPr>
        <p:spPr>
          <a:xfrm>
            <a:off x="857250" y="3509962"/>
            <a:ext cx="48577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Báo </a:t>
            </a:r>
            <a:r>
              <a:rPr lang="en-US" b="1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cáo</a:t>
            </a:r>
            <a:r>
              <a:rPr lang="en-US" b="1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1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tiến</a:t>
            </a:r>
            <a:r>
              <a:rPr lang="en-US" b="1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1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độ</a:t>
            </a:r>
            <a:r>
              <a:rPr lang="en-US" b="1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:</a:t>
            </a:r>
            <a:endParaRPr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50" name="Google Shape;250;p20"/>
          <p:cNvSpPr txBox="1"/>
          <p:nvPr/>
        </p:nvSpPr>
        <p:spPr>
          <a:xfrm>
            <a:off x="6524625" y="2614612"/>
            <a:ext cx="510063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accent6">
                    <a:lumMod val="75000"/>
                  </a:schemeClr>
                </a:solidFill>
                <a:latin typeface="+mn-lt"/>
                <a:ea typeface="Montserrat"/>
                <a:cs typeface="Montserrat"/>
                <a:sym typeface="Montserrat"/>
              </a:rPr>
              <a:t> Giao </a:t>
            </a:r>
            <a:r>
              <a:rPr lang="en-US" sz="2000" b="1" i="0" u="none" strike="noStrike" cap="none" dirty="0" err="1">
                <a:solidFill>
                  <a:schemeClr val="accent6">
                    <a:lumMod val="75000"/>
                  </a:schemeClr>
                </a:solidFill>
                <a:latin typeface="+mn-lt"/>
                <a:ea typeface="Montserrat"/>
                <a:cs typeface="Montserrat"/>
                <a:sym typeface="Montserrat"/>
              </a:rPr>
              <a:t>tiếp</a:t>
            </a:r>
            <a:r>
              <a:rPr lang="en-US" sz="2000" b="1" i="0" u="none" strike="noStrike" cap="none" dirty="0">
                <a:solidFill>
                  <a:schemeClr val="accent6">
                    <a:lumMod val="75000"/>
                  </a:schemeClr>
                </a:solidFill>
                <a:latin typeface="+mn-lt"/>
                <a:ea typeface="Montserrat"/>
                <a:cs typeface="Montserrat"/>
                <a:sym typeface="Montserrat"/>
              </a:rPr>
              <a:t> &amp; </a:t>
            </a:r>
            <a:r>
              <a:rPr lang="en-US" sz="2000" b="1" i="0" u="none" strike="noStrike" cap="none" dirty="0" err="1">
                <a:solidFill>
                  <a:schemeClr val="accent6">
                    <a:lumMod val="75000"/>
                  </a:schemeClr>
                </a:solidFill>
                <a:latin typeface="+mn-lt"/>
                <a:ea typeface="Montserrat"/>
                <a:cs typeface="Montserrat"/>
                <a:sym typeface="Montserrat"/>
              </a:rPr>
              <a:t>Kỷ</a:t>
            </a:r>
            <a:r>
              <a:rPr lang="en-US" sz="2000" b="1" i="0" u="none" strike="noStrike" cap="none" dirty="0">
                <a:solidFill>
                  <a:schemeClr val="accent6">
                    <a:lumMod val="75000"/>
                  </a:schemeClr>
                </a:solidFill>
                <a:latin typeface="+mn-lt"/>
                <a:ea typeface="Montserrat"/>
                <a:cs typeface="Montserrat"/>
                <a:sym typeface="Montserrat"/>
              </a:rPr>
              <a:t> </a:t>
            </a:r>
            <a:r>
              <a:rPr lang="en-US" sz="2000" b="1" i="0" u="none" strike="noStrike" cap="none" dirty="0" err="1">
                <a:solidFill>
                  <a:schemeClr val="accent6">
                    <a:lumMod val="75000"/>
                  </a:schemeClr>
                </a:solidFill>
                <a:latin typeface="+mn-lt"/>
                <a:ea typeface="Montserrat"/>
                <a:cs typeface="Montserrat"/>
                <a:sym typeface="Montserrat"/>
              </a:rPr>
              <a:t>luật</a:t>
            </a:r>
            <a:endParaRPr sz="2000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251" name="Google Shape;251;p20"/>
          <p:cNvSpPr txBox="1"/>
          <p:nvPr/>
        </p:nvSpPr>
        <p:spPr>
          <a:xfrm>
            <a:off x="6524625" y="3157537"/>
            <a:ext cx="48577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Giao tiếp văn minh, lịch sự với đồng nghiệp &amp; đối tác.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252" name="Google Shape;252;p20"/>
          <p:cNvSpPr txBox="1"/>
          <p:nvPr/>
        </p:nvSpPr>
        <p:spPr>
          <a:xfrm>
            <a:off x="6524625" y="3509962"/>
            <a:ext cx="48577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Xử lý vi phạm: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253" name="Google Shape;253;p20"/>
          <p:cNvSpPr txBox="1"/>
          <p:nvPr/>
        </p:nvSpPr>
        <p:spPr>
          <a:xfrm>
            <a:off x="6524625" y="3767137"/>
            <a:ext cx="48577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Từ nhắc nhở, cảnh cáo đến sa thải tùy mức độ.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254" name="Google Shape;254;p20"/>
          <p:cNvSpPr txBox="1"/>
          <p:nvPr/>
        </p:nvSpPr>
        <p:spPr>
          <a:xfrm>
            <a:off x="981075" y="3767137"/>
            <a:ext cx="66675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•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255" name="Google Shape;255;p20"/>
          <p:cNvSpPr txBox="1"/>
          <p:nvPr/>
        </p:nvSpPr>
        <p:spPr>
          <a:xfrm>
            <a:off x="1047750" y="3767137"/>
            <a:ext cx="46672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Văn 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phòng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: 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Trước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10h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hàng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ngày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.</a:t>
            </a:r>
            <a:endParaRPr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56" name="Google Shape;256;p20"/>
          <p:cNvSpPr txBox="1"/>
          <p:nvPr/>
        </p:nvSpPr>
        <p:spPr>
          <a:xfrm>
            <a:off x="981075" y="4024312"/>
            <a:ext cx="66675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•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257" name="Google Shape;257;p20"/>
          <p:cNvSpPr txBox="1"/>
          <p:nvPr/>
        </p:nvSpPr>
        <p:spPr>
          <a:xfrm>
            <a:off x="1047750" y="4024312"/>
            <a:ext cx="46672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Dự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án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: 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Đầu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ngày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làm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việc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.</a:t>
            </a:r>
            <a:endParaRPr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C1E6D6D-D0E8-449E-5B3B-F8697360D6D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86058" y="-25510"/>
            <a:ext cx="1350392" cy="13472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2F0EDD6-29D8-5056-1947-1BEF5F753ABA}"/>
              </a:ext>
            </a:extLst>
          </p:cNvPr>
          <p:cNvSpPr txBox="1"/>
          <p:nvPr/>
        </p:nvSpPr>
        <p:spPr>
          <a:xfrm>
            <a:off x="730250" y="4246795"/>
            <a:ext cx="6118224" cy="1021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b="1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Báo </a:t>
            </a:r>
            <a:r>
              <a:rPr lang="en-US" b="1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cáo</a:t>
            </a:r>
            <a:r>
              <a:rPr lang="en-US" b="1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vi </a:t>
            </a:r>
            <a:r>
              <a:rPr lang="en-US" b="1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phạm</a:t>
            </a:r>
            <a:r>
              <a:rPr lang="en-US" b="1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: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Khi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phát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hiện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các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vi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phạm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hoặc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sự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cố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nhân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viên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cần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báo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cáo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kịp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thời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để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đảm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bảo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xử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lý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hiệu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quả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và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ngăn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ngừa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rủi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ro</a:t>
            </a:r>
            <a:endParaRPr lang="en-US" b="1" dirty="0">
              <a:solidFill>
                <a:schemeClr val="tx1"/>
              </a:solidFill>
              <a:latin typeface="+mn-lt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71762"/>
            <a:ext cx="2547937" cy="22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5187" y="2671762"/>
            <a:ext cx="2547937" cy="22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2671762"/>
            <a:ext cx="2547937" cy="22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72562" y="2671762"/>
            <a:ext cx="2547937" cy="22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64468" y="2957512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298156" y="2957512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131843" y="2957512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965531" y="2957512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712118" y="3186112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1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526756" y="318611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1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322343" y="3186112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1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194131" y="318611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1"/>
          <p:cNvSpPr txBox="1"/>
          <p:nvPr/>
        </p:nvSpPr>
        <p:spPr>
          <a:xfrm>
            <a:off x="203200" y="238125"/>
            <a:ext cx="116205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chemeClr val="tx1"/>
                </a:solidFill>
                <a:latin typeface="+mn-lt"/>
                <a:ea typeface="Montserrat ExtraBold"/>
                <a:cs typeface="Montserrat ExtraBold"/>
                <a:sym typeface="Montserrat ExtraBold"/>
              </a:rPr>
              <a:t>5. CHẾ ĐỘ PHÚC LỢI</a:t>
            </a:r>
            <a:endParaRPr sz="28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78" name="Google Shape;278;p21"/>
          <p:cNvSpPr/>
          <p:nvPr/>
        </p:nvSpPr>
        <p:spPr>
          <a:xfrm>
            <a:off x="571500" y="1123950"/>
            <a:ext cx="762000" cy="5715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0" i="0" u="none" strike="noStrike" cap="none">
              <a:solidFill>
                <a:schemeClr val="tx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1"/>
          <p:cNvSpPr txBox="1"/>
          <p:nvPr/>
        </p:nvSpPr>
        <p:spPr>
          <a:xfrm>
            <a:off x="707826" y="3910012"/>
            <a:ext cx="2275284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chemeClr val="accent6">
                    <a:lumMod val="75000"/>
                  </a:schemeClr>
                </a:solidFill>
                <a:latin typeface="+mn-lt"/>
                <a:ea typeface="Montserrat"/>
                <a:cs typeface="Montserrat"/>
                <a:sym typeface="Montserrat"/>
              </a:rPr>
              <a:t>Thai </a:t>
            </a:r>
            <a:r>
              <a:rPr lang="en-US" b="1" i="0" u="none" strike="noStrike" cap="none" dirty="0" err="1">
                <a:solidFill>
                  <a:schemeClr val="accent6">
                    <a:lumMod val="75000"/>
                  </a:schemeClr>
                </a:solidFill>
                <a:latin typeface="+mn-lt"/>
                <a:ea typeface="Montserrat"/>
                <a:cs typeface="Montserrat"/>
                <a:sym typeface="Montserrat"/>
              </a:rPr>
              <a:t>sản</a:t>
            </a:r>
            <a:endParaRPr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280" name="Google Shape;280;p21"/>
          <p:cNvSpPr txBox="1"/>
          <p:nvPr/>
        </p:nvSpPr>
        <p:spPr>
          <a:xfrm>
            <a:off x="762000" y="4129087"/>
            <a:ext cx="2166937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Tối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đa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Nghỉ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06 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tháng</a:t>
            </a:r>
            <a:endParaRPr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81" name="Google Shape;281;p21"/>
          <p:cNvSpPr txBox="1"/>
          <p:nvPr/>
        </p:nvSpPr>
        <p:spPr>
          <a:xfrm>
            <a:off x="381000" y="4386262"/>
            <a:ext cx="254793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Hưởng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đầy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đủ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BHXH 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theo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quy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định</a:t>
            </a:r>
            <a:endParaRPr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>
            <a:off x="3541514" y="3910012"/>
            <a:ext cx="2275284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 err="1">
                <a:solidFill>
                  <a:schemeClr val="accent6">
                    <a:lumMod val="75000"/>
                  </a:schemeClr>
                </a:solidFill>
                <a:latin typeface="+mn-lt"/>
                <a:ea typeface="Montserrat"/>
                <a:cs typeface="Montserrat"/>
                <a:sym typeface="Montserrat"/>
              </a:rPr>
              <a:t>Xăng</a:t>
            </a:r>
            <a:r>
              <a:rPr lang="en-US" b="1" i="0" u="none" strike="noStrike" cap="none" dirty="0">
                <a:solidFill>
                  <a:schemeClr val="accent6">
                    <a:lumMod val="75000"/>
                  </a:schemeClr>
                </a:solidFill>
                <a:latin typeface="+mn-lt"/>
                <a:ea typeface="Montserrat"/>
                <a:cs typeface="Montserrat"/>
                <a:sym typeface="Montserrat"/>
              </a:rPr>
              <a:t> </a:t>
            </a:r>
            <a:r>
              <a:rPr lang="en-US" b="1" i="0" u="none" strike="noStrike" cap="none" dirty="0" err="1">
                <a:solidFill>
                  <a:schemeClr val="accent6">
                    <a:lumMod val="75000"/>
                  </a:schemeClr>
                </a:solidFill>
                <a:latin typeface="+mn-lt"/>
                <a:ea typeface="Montserrat"/>
                <a:cs typeface="Montserrat"/>
                <a:sym typeface="Montserrat"/>
              </a:rPr>
              <a:t>xe</a:t>
            </a:r>
            <a:endParaRPr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>
            <a:off x="3595687" y="4129087"/>
            <a:ext cx="2166937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KT: 2.000 VNĐ/km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284" name="Google Shape;284;p21"/>
          <p:cNvSpPr txBox="1"/>
          <p:nvPr/>
        </p:nvSpPr>
        <p:spPr>
          <a:xfrm>
            <a:off x="3595687" y="4386262"/>
            <a:ext cx="2166937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Vệ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sinh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: 1.000 VNĐ/km</a:t>
            </a: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Phụ</a:t>
            </a:r>
            <a:r>
              <a:rPr lang="en-US" i="1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i="1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cấp</a:t>
            </a:r>
            <a:r>
              <a:rPr lang="en-US" i="1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i="1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xăng</a:t>
            </a:r>
            <a:r>
              <a:rPr lang="en-US" i="1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i="1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xe</a:t>
            </a:r>
            <a:r>
              <a:rPr lang="en-US" i="1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– chi </a:t>
            </a:r>
            <a:r>
              <a:rPr lang="en-US" i="1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tiết</a:t>
            </a:r>
            <a:r>
              <a:rPr lang="en-US" i="1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i="1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theo</a:t>
            </a:r>
            <a:r>
              <a:rPr lang="en-US" i="1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i="1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quy</a:t>
            </a:r>
            <a:r>
              <a:rPr lang="en-US" i="1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i="1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định</a:t>
            </a:r>
            <a:r>
              <a:rPr lang="en-US" i="1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i="1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của</a:t>
            </a:r>
            <a:r>
              <a:rPr lang="en-US" i="1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i="1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công</a:t>
            </a:r>
            <a:r>
              <a:rPr lang="en-US" i="1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ty</a:t>
            </a:r>
            <a:endParaRPr i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85" name="Google Shape;285;p21"/>
          <p:cNvSpPr txBox="1"/>
          <p:nvPr/>
        </p:nvSpPr>
        <p:spPr>
          <a:xfrm>
            <a:off x="6375201" y="3910012"/>
            <a:ext cx="2275284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chemeClr val="accent6">
                    <a:lumMod val="75000"/>
                  </a:schemeClr>
                </a:solidFill>
                <a:latin typeface="+mn-lt"/>
                <a:ea typeface="Montserrat"/>
                <a:cs typeface="Montserrat"/>
                <a:sym typeface="Montserrat"/>
              </a:rPr>
              <a:t>Lưu </a:t>
            </a:r>
            <a:r>
              <a:rPr lang="en-US" b="1" i="0" u="none" strike="noStrike" cap="none" dirty="0" err="1">
                <a:solidFill>
                  <a:schemeClr val="accent6">
                    <a:lumMod val="75000"/>
                  </a:schemeClr>
                </a:solidFill>
                <a:latin typeface="+mn-lt"/>
                <a:ea typeface="Montserrat"/>
                <a:cs typeface="Montserrat"/>
                <a:sym typeface="Montserrat"/>
              </a:rPr>
              <a:t>trú</a:t>
            </a:r>
            <a:r>
              <a:rPr lang="en-US" b="1" i="0" u="none" strike="noStrike" cap="none" dirty="0">
                <a:solidFill>
                  <a:schemeClr val="accent6">
                    <a:lumMod val="75000"/>
                  </a:schemeClr>
                </a:solidFill>
                <a:latin typeface="+mn-lt"/>
                <a:ea typeface="Montserrat"/>
                <a:cs typeface="Montserrat"/>
                <a:sym typeface="Montserrat"/>
              </a:rPr>
              <a:t> </a:t>
            </a:r>
            <a:r>
              <a:rPr lang="en-US" b="1" i="0" u="none" strike="noStrike" cap="none" dirty="0" err="1">
                <a:solidFill>
                  <a:schemeClr val="accent6">
                    <a:lumMod val="75000"/>
                  </a:schemeClr>
                </a:solidFill>
                <a:latin typeface="+mn-lt"/>
                <a:ea typeface="Montserrat"/>
                <a:cs typeface="Montserrat"/>
                <a:sym typeface="Montserrat"/>
              </a:rPr>
              <a:t>và</a:t>
            </a:r>
            <a:r>
              <a:rPr lang="en-US" b="1" i="0" u="none" strike="noStrike" cap="none" dirty="0">
                <a:solidFill>
                  <a:schemeClr val="accent6">
                    <a:lumMod val="75000"/>
                  </a:schemeClr>
                </a:solidFill>
                <a:latin typeface="+mn-lt"/>
                <a:ea typeface="Montserrat"/>
                <a:cs typeface="Montserrat"/>
                <a:sym typeface="Montserrat"/>
              </a:rPr>
              <a:t> chi </a:t>
            </a:r>
            <a:r>
              <a:rPr lang="en-US" b="1" i="0" u="none" strike="noStrike" cap="none" dirty="0" err="1">
                <a:solidFill>
                  <a:schemeClr val="accent6">
                    <a:lumMod val="75000"/>
                  </a:schemeClr>
                </a:solidFill>
                <a:latin typeface="+mn-lt"/>
                <a:ea typeface="Montserrat"/>
                <a:cs typeface="Montserrat"/>
                <a:sym typeface="Montserrat"/>
              </a:rPr>
              <a:t>phí</a:t>
            </a:r>
            <a:r>
              <a:rPr lang="en-US" b="1" i="0" u="none" strike="noStrike" cap="none" dirty="0">
                <a:solidFill>
                  <a:schemeClr val="accent6">
                    <a:lumMod val="75000"/>
                  </a:schemeClr>
                </a:solidFill>
                <a:latin typeface="+mn-lt"/>
                <a:ea typeface="Montserrat"/>
                <a:cs typeface="Montserrat"/>
                <a:sym typeface="Montserrat"/>
              </a:rPr>
              <a:t> </a:t>
            </a:r>
            <a:r>
              <a:rPr lang="en-US" b="1" i="0" u="none" strike="noStrike" cap="none" dirty="0" err="1">
                <a:solidFill>
                  <a:schemeClr val="accent6">
                    <a:lumMod val="75000"/>
                  </a:schemeClr>
                </a:solidFill>
                <a:latin typeface="+mn-lt"/>
                <a:ea typeface="Montserrat"/>
                <a:cs typeface="Montserrat"/>
                <a:sym typeface="Montserrat"/>
              </a:rPr>
              <a:t>khác</a:t>
            </a:r>
            <a:endParaRPr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286" name="Google Shape;286;p21"/>
          <p:cNvSpPr txBox="1"/>
          <p:nvPr/>
        </p:nvSpPr>
        <p:spPr>
          <a:xfrm>
            <a:off x="6048375" y="4129087"/>
            <a:ext cx="254793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Theo 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hạn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mức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Công ty.</a:t>
            </a:r>
            <a:endParaRPr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87" name="Google Shape;287;p21"/>
          <p:cNvSpPr txBox="1"/>
          <p:nvPr/>
        </p:nvSpPr>
        <p:spPr>
          <a:xfrm>
            <a:off x="6429375" y="4386262"/>
            <a:ext cx="2643187" cy="236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Vượt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hạn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mức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cần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phê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duyệt</a:t>
            </a:r>
            <a:r>
              <a:rPr lang="en-US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của</a:t>
            </a:r>
            <a:r>
              <a:rPr lang="en-US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 Quản </a:t>
            </a:r>
            <a:r>
              <a:rPr lang="en-US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lý</a:t>
            </a:r>
            <a:endParaRPr lang="en-US" dirty="0">
              <a:solidFill>
                <a:schemeClr val="tx1"/>
              </a:solidFill>
              <a:latin typeface="+mn-lt"/>
              <a:ea typeface="Open Sans"/>
              <a:cs typeface="Open Sans"/>
              <a:sym typeface="Open Sans"/>
            </a:endParaRPr>
          </a:p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tx1"/>
              </a:solidFill>
              <a:latin typeface="+mn-lt"/>
              <a:ea typeface="Open Sans"/>
              <a:cs typeface="Open Sans"/>
              <a:sym typeface="Open Sans"/>
            </a:endParaRPr>
          </a:p>
          <a:p>
            <a:r>
              <a:rPr lang="en-US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Các </a:t>
            </a:r>
            <a:r>
              <a:rPr lang="vi-VN" dirty="0">
                <a:solidFill>
                  <a:schemeClr val="tx1"/>
                </a:solidFill>
                <a:latin typeface="+mn-lt"/>
              </a:rPr>
              <a:t>khoản chi phí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vi-VN" dirty="0">
                <a:solidFill>
                  <a:schemeClr val="tx1"/>
                </a:solidFill>
                <a:latin typeface="+mn-lt"/>
              </a:rPr>
              <a:t>khác phát sinh liên quan đến công việc trong quá trình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vi-VN" dirty="0">
                <a:solidFill>
                  <a:schemeClr val="tx1"/>
                </a:solidFill>
                <a:latin typeface="+mn-lt"/>
              </a:rPr>
              <a:t>công tác được Công ty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vi-VN" dirty="0">
                <a:solidFill>
                  <a:schemeClr val="tx1"/>
                </a:solidFill>
                <a:latin typeface="+mn-lt"/>
              </a:rPr>
              <a:t>chi trả theo hóa đơn, chứng từ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hợp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lệ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.</a:t>
            </a: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88" name="Google Shape;288;p21"/>
          <p:cNvSpPr txBox="1"/>
          <p:nvPr/>
        </p:nvSpPr>
        <p:spPr>
          <a:xfrm>
            <a:off x="9208889" y="3910012"/>
            <a:ext cx="2275284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 err="1">
                <a:solidFill>
                  <a:schemeClr val="accent6">
                    <a:lumMod val="75000"/>
                  </a:schemeClr>
                </a:solidFill>
                <a:latin typeface="+mn-lt"/>
                <a:ea typeface="Montserrat"/>
                <a:cs typeface="Montserrat"/>
                <a:sym typeface="Montserrat"/>
              </a:rPr>
              <a:t>Thưởng</a:t>
            </a:r>
            <a:endParaRPr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289" name="Google Shape;289;p21"/>
          <p:cNvSpPr txBox="1"/>
          <p:nvPr/>
        </p:nvSpPr>
        <p:spPr>
          <a:xfrm>
            <a:off x="9263062" y="4129087"/>
            <a:ext cx="274478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Lễ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, 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Tết</a:t>
            </a: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, Sinh 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+mn-lt"/>
                <a:ea typeface="Open Sans"/>
                <a:cs typeface="Open Sans"/>
                <a:sym typeface="Open Sans"/>
              </a:rPr>
              <a:t>nhật</a:t>
            </a:r>
            <a:endParaRPr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90" name="Google Shape;290;p21"/>
          <p:cNvSpPr txBox="1"/>
          <p:nvPr/>
        </p:nvSpPr>
        <p:spPr>
          <a:xfrm>
            <a:off x="9263062" y="4386262"/>
            <a:ext cx="2833688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dirty="0" err="1">
                <a:solidFill>
                  <a:schemeClr val="tx1"/>
                </a:solidFill>
                <a:latin typeface="+mn-lt"/>
              </a:rPr>
              <a:t>thưởng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theo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năng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lực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quỹ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khuyến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học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cho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con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của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người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lao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động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… </a:t>
            </a:r>
            <a:r>
              <a:rPr lang="en-US" i="1" dirty="0">
                <a:solidFill>
                  <a:schemeClr val="tx1"/>
                </a:solidFill>
                <a:latin typeface="+mn-lt"/>
              </a:rPr>
              <a:t>Chi </a:t>
            </a:r>
            <a:r>
              <a:rPr lang="en-US" i="1" dirty="0" err="1">
                <a:solidFill>
                  <a:schemeClr val="tx1"/>
                </a:solidFill>
                <a:latin typeface="+mn-lt"/>
              </a:rPr>
              <a:t>tiết</a:t>
            </a:r>
            <a:r>
              <a:rPr lang="en-US" i="1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i="1" dirty="0" err="1">
                <a:solidFill>
                  <a:schemeClr val="tx1"/>
                </a:solidFill>
                <a:latin typeface="+mn-lt"/>
              </a:rPr>
              <a:t>tại</a:t>
            </a:r>
            <a:r>
              <a:rPr lang="en-US" i="1" dirty="0">
                <a:solidFill>
                  <a:schemeClr val="tx1"/>
                </a:solidFill>
                <a:latin typeface="+mn-lt"/>
              </a:rPr>
              <a:t> file “</a:t>
            </a:r>
            <a:r>
              <a:rPr lang="en-US" i="1" dirty="0" err="1">
                <a:solidFill>
                  <a:schemeClr val="tx1"/>
                </a:solidFill>
                <a:latin typeface="+mn-lt"/>
              </a:rPr>
              <a:t>Quỹ</a:t>
            </a:r>
            <a:r>
              <a:rPr lang="en-US" i="1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i="1" dirty="0" err="1">
                <a:solidFill>
                  <a:schemeClr val="tx1"/>
                </a:solidFill>
                <a:latin typeface="+mn-lt"/>
              </a:rPr>
              <a:t>phúc</a:t>
            </a:r>
            <a:r>
              <a:rPr lang="en-US" i="1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i="1" dirty="0" err="1">
                <a:solidFill>
                  <a:schemeClr val="tx1"/>
                </a:solidFill>
                <a:latin typeface="+mn-lt"/>
              </a:rPr>
              <a:t>lợi</a:t>
            </a:r>
            <a:r>
              <a:rPr lang="en-US" i="1" dirty="0">
                <a:solidFill>
                  <a:schemeClr val="tx1"/>
                </a:solidFill>
                <a:latin typeface="+mn-lt"/>
              </a:rPr>
              <a:t>”</a:t>
            </a: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91F8AEE-3B56-5C49-EBB5-C22954D6D12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841608" y="0"/>
            <a:ext cx="1350392" cy="134723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90800"/>
            <a:ext cx="5286375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499" y="4515490"/>
            <a:ext cx="5286375" cy="101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2"/>
          <p:cNvPicPr preferRelativeResize="0"/>
          <p:nvPr/>
        </p:nvPicPr>
        <p:blipFill>
          <a:blip r:embed="rId6">
            <a:alphaModFix/>
          </a:blip>
          <a:srcRect/>
          <a:stretch/>
        </p:blipFill>
        <p:spPr>
          <a:xfrm>
            <a:off x="6334125" y="2289869"/>
            <a:ext cx="5286375" cy="3337708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2"/>
          <p:cNvSpPr txBox="1"/>
          <p:nvPr/>
        </p:nvSpPr>
        <p:spPr>
          <a:xfrm>
            <a:off x="806694" y="2614633"/>
            <a:ext cx="13335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6D00"/>
                </a:solidFill>
                <a:latin typeface="+mn-lt"/>
                <a:ea typeface="Open Sans ExtraBold"/>
                <a:cs typeface="Open Sans ExtraBold"/>
                <a:sym typeface="Open Sans ExtraBold"/>
              </a:rPr>
              <a:t>100%</a:t>
            </a:r>
            <a:endParaRPr sz="3600" b="1" dirty="0">
              <a:latin typeface="+mn-lt"/>
            </a:endParaRPr>
          </a:p>
        </p:txBody>
      </p:sp>
      <p:sp>
        <p:nvSpPr>
          <p:cNvPr id="300" name="Google Shape;300;p22"/>
          <p:cNvSpPr txBox="1"/>
          <p:nvPr/>
        </p:nvSpPr>
        <p:spPr>
          <a:xfrm>
            <a:off x="690562" y="4743450"/>
            <a:ext cx="13335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9E80"/>
                </a:solidFill>
                <a:latin typeface="+mn-lt"/>
                <a:ea typeface="Open Sans ExtraBold"/>
                <a:cs typeface="Open Sans ExtraBold"/>
                <a:sym typeface="Open Sans ExtraBold"/>
              </a:rPr>
              <a:t>50%</a:t>
            </a:r>
            <a:endParaRPr sz="3600" b="1" dirty="0">
              <a:latin typeface="+mn-lt"/>
            </a:endParaRPr>
          </a:p>
        </p:txBody>
      </p:sp>
      <p:sp>
        <p:nvSpPr>
          <p:cNvPr id="301" name="Google Shape;301;p22"/>
          <p:cNvSpPr txBox="1"/>
          <p:nvPr/>
        </p:nvSpPr>
        <p:spPr>
          <a:xfrm>
            <a:off x="3266196" y="2842255"/>
            <a:ext cx="2417152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263238"/>
                </a:solidFill>
                <a:latin typeface="+mn-lt"/>
                <a:ea typeface="Open Sans"/>
                <a:cs typeface="Open Sans"/>
                <a:sym typeface="Open Sans"/>
              </a:rPr>
              <a:t>Tài </a:t>
            </a:r>
            <a:r>
              <a:rPr lang="en-US" b="1" i="0" u="none" strike="noStrike" cap="none" dirty="0" err="1">
                <a:solidFill>
                  <a:srgbClr val="263238"/>
                </a:solidFill>
                <a:latin typeface="+mn-lt"/>
                <a:ea typeface="Open Sans"/>
                <a:cs typeface="Open Sans"/>
                <a:sym typeface="Open Sans"/>
              </a:rPr>
              <a:t>trợ</a:t>
            </a:r>
            <a:r>
              <a:rPr lang="en-US" b="1" i="0" u="none" strike="noStrike" cap="none" dirty="0">
                <a:solidFill>
                  <a:srgbClr val="263238"/>
                </a:solidFill>
                <a:latin typeface="+mn-lt"/>
                <a:ea typeface="Open Sans"/>
                <a:cs typeface="Open Sans"/>
                <a:sym typeface="Open Sans"/>
              </a:rPr>
              <a:t> chi </a:t>
            </a:r>
            <a:r>
              <a:rPr lang="en-US" b="1" i="0" u="none" strike="noStrike" cap="none" dirty="0" err="1">
                <a:solidFill>
                  <a:srgbClr val="263238"/>
                </a:solidFill>
                <a:latin typeface="+mn-lt"/>
                <a:ea typeface="Open Sans"/>
                <a:cs typeface="Open Sans"/>
                <a:sym typeface="Open Sans"/>
              </a:rPr>
              <a:t>phí</a:t>
            </a:r>
            <a:endParaRPr dirty="0">
              <a:latin typeface="+mn-lt"/>
            </a:endParaRPr>
          </a:p>
        </p:txBody>
      </p:sp>
      <p:sp>
        <p:nvSpPr>
          <p:cNvPr id="302" name="Google Shape;302;p22"/>
          <p:cNvSpPr txBox="1"/>
          <p:nvPr/>
        </p:nvSpPr>
        <p:spPr>
          <a:xfrm>
            <a:off x="3274218" y="4650050"/>
            <a:ext cx="21188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263238"/>
                </a:solidFill>
                <a:latin typeface="+mn-lt"/>
                <a:ea typeface="Open Sans"/>
                <a:cs typeface="Open Sans"/>
                <a:sym typeface="Open Sans"/>
              </a:rPr>
              <a:t>Tài </a:t>
            </a:r>
            <a:r>
              <a:rPr lang="en-US" b="1" i="0" u="none" strike="noStrike" cap="none" dirty="0" err="1">
                <a:solidFill>
                  <a:srgbClr val="263238"/>
                </a:solidFill>
                <a:latin typeface="+mn-lt"/>
                <a:ea typeface="Open Sans"/>
                <a:cs typeface="Open Sans"/>
                <a:sym typeface="Open Sans"/>
              </a:rPr>
              <a:t>trợ</a:t>
            </a:r>
            <a:r>
              <a:rPr lang="en-US" b="1" i="0" u="none" strike="noStrike" cap="none" dirty="0">
                <a:solidFill>
                  <a:srgbClr val="263238"/>
                </a:solidFill>
                <a:latin typeface="+mn-lt"/>
                <a:ea typeface="Open Sans"/>
                <a:cs typeface="Open Sans"/>
                <a:sym typeface="Open Sans"/>
              </a:rPr>
              <a:t> chi </a:t>
            </a:r>
            <a:r>
              <a:rPr lang="en-US" b="1" i="0" u="none" strike="noStrike" cap="none" dirty="0" err="1">
                <a:solidFill>
                  <a:srgbClr val="263238"/>
                </a:solidFill>
                <a:latin typeface="+mn-lt"/>
                <a:ea typeface="Open Sans"/>
                <a:cs typeface="Open Sans"/>
                <a:sym typeface="Open Sans"/>
              </a:rPr>
              <a:t>phí</a:t>
            </a:r>
            <a:endParaRPr dirty="0">
              <a:latin typeface="+mn-lt"/>
            </a:endParaRPr>
          </a:p>
        </p:txBody>
      </p:sp>
      <p:sp>
        <p:nvSpPr>
          <p:cNvPr id="303" name="Google Shape;303;p22"/>
          <p:cNvSpPr txBox="1"/>
          <p:nvPr/>
        </p:nvSpPr>
        <p:spPr>
          <a:xfrm>
            <a:off x="430824" y="371474"/>
            <a:ext cx="116205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263238"/>
                </a:solidFill>
                <a:latin typeface="+mn-lt"/>
                <a:ea typeface="Montserrat ExtraBold"/>
                <a:cs typeface="Montserrat ExtraBold"/>
                <a:sym typeface="Montserrat ExtraBold"/>
              </a:rPr>
              <a:t>5.1 DU LỊCH HÀNG NĂM</a:t>
            </a:r>
            <a:endParaRPr sz="2800" b="1" dirty="0">
              <a:latin typeface="+mn-lt"/>
            </a:endParaRPr>
          </a:p>
        </p:txBody>
      </p:sp>
      <p:sp>
        <p:nvSpPr>
          <p:cNvPr id="304" name="Google Shape;304;p22"/>
          <p:cNvSpPr/>
          <p:nvPr/>
        </p:nvSpPr>
        <p:spPr>
          <a:xfrm>
            <a:off x="571500" y="1123950"/>
            <a:ext cx="762000" cy="5715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2"/>
          <p:cNvSpPr txBox="1"/>
          <p:nvPr/>
        </p:nvSpPr>
        <p:spPr>
          <a:xfrm>
            <a:off x="690562" y="3224211"/>
            <a:ext cx="516731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Nhân</a:t>
            </a:r>
            <a:r>
              <a:rPr lang="en-US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viên</a:t>
            </a:r>
            <a:r>
              <a:rPr lang="en-US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ký</a:t>
            </a:r>
            <a:r>
              <a:rPr lang="en-US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HĐLĐ &gt; 3 </a:t>
            </a:r>
            <a:r>
              <a:rPr lang="en-US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tháng</a:t>
            </a:r>
            <a:r>
              <a:rPr lang="en-US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( bao </a:t>
            </a:r>
            <a:r>
              <a:rPr lang="en-US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gồm</a:t>
            </a:r>
            <a:r>
              <a:rPr lang="en-US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thời</a:t>
            </a:r>
            <a:r>
              <a:rPr lang="en-US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gian</a:t>
            </a:r>
            <a:r>
              <a:rPr lang="en-US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thử</a:t>
            </a:r>
            <a:r>
              <a:rPr lang="en-US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việc</a:t>
            </a:r>
            <a:r>
              <a:rPr lang="en-US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)</a:t>
            </a:r>
            <a:endParaRPr dirty="0">
              <a:latin typeface="+mn-lt"/>
            </a:endParaRPr>
          </a:p>
        </p:txBody>
      </p:sp>
      <p:sp>
        <p:nvSpPr>
          <p:cNvPr id="306" name="Google Shape;306;p22"/>
          <p:cNvSpPr txBox="1"/>
          <p:nvPr/>
        </p:nvSpPr>
        <p:spPr>
          <a:xfrm>
            <a:off x="1948375" y="5010871"/>
            <a:ext cx="4028562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Nhân</a:t>
            </a:r>
            <a:r>
              <a:rPr lang="en-US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viên</a:t>
            </a:r>
            <a:r>
              <a:rPr lang="en-US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ký</a:t>
            </a:r>
            <a:r>
              <a:rPr lang="en-US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HĐLĐ </a:t>
            </a:r>
            <a:r>
              <a:rPr lang="en-US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làm</a:t>
            </a:r>
            <a:r>
              <a:rPr lang="en-US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việc</a:t>
            </a:r>
            <a:r>
              <a:rPr lang="en-US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từ</a:t>
            </a:r>
            <a:r>
              <a:rPr lang="en-US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1 - 3 </a:t>
            </a:r>
            <a:r>
              <a:rPr lang="en-US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tháng</a:t>
            </a:r>
            <a:endParaRPr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99142B-71EB-D3E6-B550-C24D719EA946}"/>
              </a:ext>
            </a:extLst>
          </p:cNvPr>
          <p:cNvSpPr txBox="1"/>
          <p:nvPr/>
        </p:nvSpPr>
        <p:spPr>
          <a:xfrm>
            <a:off x="430824" y="6088900"/>
            <a:ext cx="102786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0" i="1" dirty="0">
                <a:solidFill>
                  <a:srgbClr val="081B3A"/>
                </a:solidFill>
                <a:effectLst/>
                <a:latin typeface="+mn-lt"/>
              </a:rPr>
              <a:t>Đối tượng không áp dụng: Tạp vụ, Bảo vệ, CTV, Thời vụ và các trường hợp có thỏa thuận khác</a:t>
            </a:r>
            <a:endParaRPr lang="en-US" i="1" dirty="0"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A33FAC-6492-B6E0-8731-2B729DDAA1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41608" y="0"/>
            <a:ext cx="1350392" cy="134723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314450"/>
            <a:ext cx="5334000" cy="497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77000" y="1256585"/>
            <a:ext cx="5334000" cy="497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9042" y="1351469"/>
            <a:ext cx="533400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60477" y="2933700"/>
            <a:ext cx="5334000" cy="430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239125" y="3405187"/>
            <a:ext cx="1428750" cy="1457325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3"/>
          <p:cNvSpPr/>
          <p:nvPr/>
        </p:nvSpPr>
        <p:spPr>
          <a:xfrm>
            <a:off x="316523" y="1343025"/>
            <a:ext cx="5511019" cy="666750"/>
          </a:xfrm>
          <a:prstGeom prst="rect">
            <a:avLst/>
          </a:prstGeom>
          <a:solidFill>
            <a:srgbClr val="263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3"/>
          <p:cNvSpPr txBox="1"/>
          <p:nvPr/>
        </p:nvSpPr>
        <p:spPr>
          <a:xfrm>
            <a:off x="690562" y="1520049"/>
            <a:ext cx="51369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b="1" i="0" u="none" strike="noStrike" cap="none" dirty="0">
                <a:solidFill>
                  <a:srgbClr val="FFFFFF"/>
                </a:solidFill>
                <a:latin typeface="+mn-lt"/>
                <a:ea typeface="Open Sans"/>
                <a:cs typeface="Open Sans"/>
                <a:sym typeface="Open Sans"/>
              </a:rPr>
              <a:t>THƯỞNG LỄ </a:t>
            </a:r>
            <a:r>
              <a:rPr lang="en-US" i="1" dirty="0">
                <a:solidFill>
                  <a:schemeClr val="bg1"/>
                </a:solidFill>
                <a:latin typeface="+mn-lt"/>
              </a:rPr>
              <a:t>(</a:t>
            </a:r>
            <a:r>
              <a:rPr lang="en-US" i="1" dirty="0" err="1">
                <a:solidFill>
                  <a:schemeClr val="bg1"/>
                </a:solidFill>
                <a:latin typeface="+mn-lt"/>
              </a:rPr>
              <a:t>Tiền</a:t>
            </a:r>
            <a:r>
              <a:rPr lang="en-US" i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+mn-lt"/>
              </a:rPr>
              <a:t>mặt</a:t>
            </a:r>
            <a:r>
              <a:rPr lang="en-US" i="1" dirty="0">
                <a:solidFill>
                  <a:schemeClr val="bg1"/>
                </a:solidFill>
                <a:latin typeface="+mn-lt"/>
              </a:rPr>
              <a:t>, </a:t>
            </a:r>
            <a:r>
              <a:rPr lang="en-US" i="1" dirty="0" err="1">
                <a:solidFill>
                  <a:schemeClr val="bg1"/>
                </a:solidFill>
                <a:latin typeface="+mn-lt"/>
              </a:rPr>
              <a:t>ngoại</a:t>
            </a:r>
            <a:r>
              <a:rPr lang="en-US" i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+mn-lt"/>
              </a:rPr>
              <a:t>trừ</a:t>
            </a:r>
            <a:r>
              <a:rPr lang="en-US" i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+mn-lt"/>
              </a:rPr>
              <a:t>tháng</a:t>
            </a:r>
            <a:r>
              <a:rPr lang="en-US" i="1" dirty="0">
                <a:solidFill>
                  <a:schemeClr val="bg1"/>
                </a:solidFill>
                <a:latin typeface="+mn-lt"/>
              </a:rPr>
              <a:t> 13) &amp; Phúc </a:t>
            </a:r>
            <a:r>
              <a:rPr lang="en-US" i="1" dirty="0" err="1">
                <a:solidFill>
                  <a:schemeClr val="bg1"/>
                </a:solidFill>
                <a:latin typeface="+mn-lt"/>
              </a:rPr>
              <a:t>lợi</a:t>
            </a:r>
            <a:r>
              <a:rPr lang="en-US" i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+mn-lt"/>
              </a:rPr>
              <a:t>khác</a:t>
            </a:r>
            <a:r>
              <a:rPr lang="en-US" i="1" dirty="0">
                <a:solidFill>
                  <a:schemeClr val="bg1"/>
                </a:solidFill>
                <a:latin typeface="+mn-lt"/>
              </a:rPr>
              <a:t>)</a:t>
            </a:r>
            <a:endParaRPr i="1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21" name="Google Shape;321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2437" y="1531143"/>
            <a:ext cx="2381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056851" y="2315662"/>
            <a:ext cx="1333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3"/>
          <p:cNvSpPr txBox="1"/>
          <p:nvPr/>
        </p:nvSpPr>
        <p:spPr>
          <a:xfrm>
            <a:off x="8297373" y="2362200"/>
            <a:ext cx="217096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FF6D00"/>
                </a:solidFill>
                <a:latin typeface="+mn-lt"/>
                <a:ea typeface="Open Sans ExtraBold"/>
                <a:cs typeface="Open Sans ExtraBold"/>
                <a:sym typeface="Open Sans ExtraBold"/>
              </a:rPr>
              <a:t>300.000</a:t>
            </a:r>
            <a:endParaRPr b="1" dirty="0">
              <a:latin typeface="+mn-lt"/>
            </a:endParaRPr>
          </a:p>
        </p:txBody>
      </p:sp>
      <p:sp>
        <p:nvSpPr>
          <p:cNvPr id="324" name="Google Shape;324;p23"/>
          <p:cNvSpPr txBox="1"/>
          <p:nvPr/>
        </p:nvSpPr>
        <p:spPr>
          <a:xfrm>
            <a:off x="350227" y="305797"/>
            <a:ext cx="116205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263238"/>
                </a:solidFill>
                <a:latin typeface="+mn-lt"/>
                <a:ea typeface="Montserrat ExtraBold"/>
                <a:cs typeface="Montserrat ExtraBold"/>
                <a:sym typeface="Montserrat ExtraBold"/>
              </a:rPr>
              <a:t>5.2 THƯỞNG &amp; QUÀ TẶNG</a:t>
            </a:r>
            <a:endParaRPr sz="2800" b="1" dirty="0">
              <a:latin typeface="+mn-lt"/>
            </a:endParaRPr>
          </a:p>
        </p:txBody>
      </p:sp>
      <p:sp>
        <p:nvSpPr>
          <p:cNvPr id="325" name="Google Shape;325;p23"/>
          <p:cNvSpPr/>
          <p:nvPr/>
        </p:nvSpPr>
        <p:spPr>
          <a:xfrm>
            <a:off x="571500" y="1123950"/>
            <a:ext cx="762000" cy="5715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3"/>
          <p:cNvSpPr txBox="1"/>
          <p:nvPr/>
        </p:nvSpPr>
        <p:spPr>
          <a:xfrm>
            <a:off x="1143000" y="2266950"/>
            <a:ext cx="44767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NV Chính thức:</a:t>
            </a:r>
            <a:r>
              <a:rPr lang="en-US" b="0" i="0" u="none" strike="noStrike" cap="none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>
                <a:solidFill>
                  <a:schemeClr val="dk1"/>
                </a:solidFill>
                <a:latin typeface="+mn-lt"/>
                <a:ea typeface="Open Sans ExtraBold"/>
                <a:cs typeface="Open Sans ExtraBold"/>
                <a:sym typeface="Open Sans ExtraBold"/>
              </a:rPr>
              <a:t>100%</a:t>
            </a:r>
            <a:r>
              <a:rPr lang="en-US" b="0" i="0" u="none" strike="noStrike" cap="none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thưởng.</a:t>
            </a:r>
            <a:endParaRPr>
              <a:latin typeface="+mn-lt"/>
            </a:endParaRPr>
          </a:p>
        </p:txBody>
      </p:sp>
      <p:sp>
        <p:nvSpPr>
          <p:cNvPr id="327" name="Google Shape;327;p23"/>
          <p:cNvSpPr txBox="1"/>
          <p:nvPr/>
        </p:nvSpPr>
        <p:spPr>
          <a:xfrm>
            <a:off x="1143000" y="2667000"/>
            <a:ext cx="44767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NV Thử việc (&gt;1 tháng):</a:t>
            </a:r>
            <a:r>
              <a:rPr lang="en-US" b="0" i="0" u="none" strike="noStrike" cap="none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b="0" i="0" u="none" strike="noStrike" cap="none">
                <a:solidFill>
                  <a:schemeClr val="dk1"/>
                </a:solidFill>
                <a:latin typeface="+mn-lt"/>
                <a:ea typeface="Open Sans ExtraBold"/>
                <a:cs typeface="Open Sans ExtraBold"/>
                <a:sym typeface="Open Sans ExtraBold"/>
              </a:rPr>
              <a:t>50%</a:t>
            </a:r>
            <a:r>
              <a:rPr lang="en-US" b="0" i="0" u="none" strike="noStrike" cap="none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thưởng.</a:t>
            </a:r>
            <a:endParaRPr>
              <a:latin typeface="+mn-lt"/>
            </a:endParaRPr>
          </a:p>
        </p:txBody>
      </p:sp>
      <p:sp>
        <p:nvSpPr>
          <p:cNvPr id="328" name="Google Shape;328;p23"/>
          <p:cNvSpPr txBox="1"/>
          <p:nvPr/>
        </p:nvSpPr>
        <p:spPr>
          <a:xfrm>
            <a:off x="8500896" y="2725041"/>
            <a:ext cx="1763921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VNĐ/</a:t>
            </a:r>
            <a:r>
              <a:rPr lang="en-US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Phần</a:t>
            </a:r>
            <a:endParaRPr dirty="0">
              <a:latin typeface="+mn-lt"/>
            </a:endParaRPr>
          </a:p>
        </p:txBody>
      </p:sp>
      <p:sp>
        <p:nvSpPr>
          <p:cNvPr id="329" name="Google Shape;329;p23"/>
          <p:cNvSpPr txBox="1"/>
          <p:nvPr/>
        </p:nvSpPr>
        <p:spPr>
          <a:xfrm>
            <a:off x="7146975" y="3075937"/>
            <a:ext cx="493951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vi-VN" dirty="0">
                <a:latin typeface="+mn-lt"/>
              </a:rPr>
              <a:t>Đối tượng: Toàn bộ nhân viên nữ làm việc trên 1 tháng (bao gồm cả Tạp vụ, Intern, Thử việc).</a:t>
            </a:r>
            <a:endParaRPr dirty="0">
              <a:latin typeface="+mn-lt"/>
            </a:endParaRPr>
          </a:p>
        </p:txBody>
      </p:sp>
      <p:pic>
        <p:nvPicPr>
          <p:cNvPr id="331" name="Google Shape;331;p2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57250" y="229552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57250" y="2695575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9A9431-32CA-25D1-96F3-DC809EE7C809}"/>
              </a:ext>
            </a:extLst>
          </p:cNvPr>
          <p:cNvSpPr txBox="1"/>
          <p:nvPr/>
        </p:nvSpPr>
        <p:spPr>
          <a:xfrm>
            <a:off x="1028700" y="3080789"/>
            <a:ext cx="60948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0" i="0" dirty="0">
                <a:solidFill>
                  <a:srgbClr val="081B3A"/>
                </a:solidFill>
                <a:effectLst/>
                <a:latin typeface="+mn-lt"/>
              </a:rPr>
              <a:t>Không áp dụng: Intern, Thời vụ, CTV và các trường hợp </a:t>
            </a:r>
            <a:endParaRPr lang="en-US" b="0" i="0" dirty="0">
              <a:solidFill>
                <a:srgbClr val="081B3A"/>
              </a:solidFill>
              <a:effectLst/>
              <a:latin typeface="+mn-lt"/>
            </a:endParaRPr>
          </a:p>
          <a:p>
            <a:r>
              <a:rPr lang="vi-VN" b="0" i="0" dirty="0">
                <a:solidFill>
                  <a:srgbClr val="081B3A"/>
                </a:solidFill>
                <a:effectLst/>
                <a:latin typeface="+mn-lt"/>
              </a:rPr>
              <a:t>có thỏa thuận khác.</a:t>
            </a:r>
            <a:endParaRPr lang="en-US" dirty="0">
              <a:latin typeface="+mn-lt"/>
            </a:endParaRPr>
          </a:p>
        </p:txBody>
      </p:sp>
      <p:pic>
        <p:nvPicPr>
          <p:cNvPr id="4" name="Google Shape;332;p23" descr="image.png">
            <a:extLst>
              <a:ext uri="{FF2B5EF4-FFF2-40B4-BE49-F238E27FC236}">
                <a16:creationId xmlns:a16="http://schemas.microsoft.com/office/drawing/2014/main" id="{63CE4749-C820-6C99-30AF-7D04942BBF78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52158" y="3161424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332;p23" descr="image.png">
            <a:extLst>
              <a:ext uri="{FF2B5EF4-FFF2-40B4-BE49-F238E27FC236}">
                <a16:creationId xmlns:a16="http://schemas.microsoft.com/office/drawing/2014/main" id="{E9F772C2-252E-AAFD-2F72-BC6E118EB8D9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949733" y="3161424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2F4C60-6D59-B7DF-8BBB-B41CD09D9AD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41608" y="0"/>
            <a:ext cx="1350392" cy="134723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871662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481262"/>
            <a:ext cx="180975" cy="178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690937"/>
            <a:ext cx="152400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2"/>
          <p:cNvSpPr/>
          <p:nvPr/>
        </p:nvSpPr>
        <p:spPr>
          <a:xfrm>
            <a:off x="571500" y="1123950"/>
            <a:ext cx="762000" cy="5715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2"/>
          <p:cNvSpPr txBox="1"/>
          <p:nvPr/>
        </p:nvSpPr>
        <p:spPr>
          <a:xfrm>
            <a:off x="571500" y="2462212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chemeClr val="accent6">
                    <a:lumMod val="75000"/>
                  </a:schemeClr>
                </a:solidFill>
                <a:latin typeface="+mn-lt"/>
                <a:ea typeface="Montserrat"/>
                <a:cs typeface="Montserrat"/>
                <a:sym typeface="Montserrat"/>
              </a:rPr>
              <a:t>Bảo </a:t>
            </a:r>
            <a:r>
              <a:rPr lang="en-US" sz="1404" b="1" i="0" u="none" strike="noStrike" cap="none" dirty="0" err="1">
                <a:solidFill>
                  <a:schemeClr val="accent6">
                    <a:lumMod val="75000"/>
                  </a:schemeClr>
                </a:solidFill>
                <a:latin typeface="+mn-lt"/>
                <a:ea typeface="Montserrat"/>
                <a:cs typeface="Montserrat"/>
                <a:sym typeface="Montserrat"/>
              </a:rPr>
              <a:t>vệ</a:t>
            </a:r>
            <a:r>
              <a:rPr lang="en-US" sz="1404" b="1" i="0" u="none" strike="noStrike" cap="none" dirty="0">
                <a:solidFill>
                  <a:schemeClr val="accent6">
                    <a:lumMod val="75000"/>
                  </a:schemeClr>
                </a:solidFill>
                <a:latin typeface="+mn-lt"/>
                <a:ea typeface="Montserrat"/>
                <a:cs typeface="Montserrat"/>
                <a:sym typeface="Montserrat"/>
              </a:rPr>
              <a:t> </a:t>
            </a:r>
            <a:r>
              <a:rPr lang="en-US" sz="1404" b="1" i="0" u="none" strike="noStrike" cap="none" dirty="0" err="1">
                <a:solidFill>
                  <a:schemeClr val="accent6">
                    <a:lumMod val="75000"/>
                  </a:schemeClr>
                </a:solidFill>
                <a:latin typeface="+mn-lt"/>
                <a:ea typeface="Montserrat"/>
                <a:cs typeface="Montserrat"/>
                <a:sym typeface="Montserrat"/>
              </a:rPr>
              <a:t>tài</a:t>
            </a:r>
            <a:r>
              <a:rPr lang="en-US" sz="1404" b="1" i="0" u="none" strike="noStrike" cap="none" dirty="0">
                <a:solidFill>
                  <a:schemeClr val="accent6">
                    <a:lumMod val="75000"/>
                  </a:schemeClr>
                </a:solidFill>
                <a:latin typeface="+mn-lt"/>
                <a:ea typeface="Montserrat"/>
                <a:cs typeface="Montserrat"/>
                <a:sym typeface="Montserrat"/>
              </a:rPr>
              <a:t> </a:t>
            </a:r>
            <a:r>
              <a:rPr lang="en-US" sz="1404" b="1" i="0" u="none" strike="noStrike" cap="none" dirty="0" err="1">
                <a:solidFill>
                  <a:schemeClr val="accent6">
                    <a:lumMod val="75000"/>
                  </a:schemeClr>
                </a:solidFill>
                <a:latin typeface="+mn-lt"/>
                <a:ea typeface="Montserrat"/>
                <a:cs typeface="Montserrat"/>
                <a:sym typeface="Montserrat"/>
              </a:rPr>
              <a:t>sản</a:t>
            </a:r>
            <a:endParaRPr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04" name="Google Shape;304;p22"/>
          <p:cNvSpPr txBox="1"/>
          <p:nvPr/>
        </p:nvSpPr>
        <p:spPr>
          <a:xfrm>
            <a:off x="571500" y="2871787"/>
            <a:ext cx="5286375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Tất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cả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tài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sản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công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ty (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thiết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bị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,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tài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liệu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)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phải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được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bảo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quản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và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sử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dụng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đúng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mục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đích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.</a:t>
            </a:r>
            <a:endParaRPr dirty="0">
              <a:latin typeface="+mn-lt"/>
            </a:endParaRPr>
          </a:p>
        </p:txBody>
      </p:sp>
      <p:sp>
        <p:nvSpPr>
          <p:cNvPr id="305" name="Google Shape;305;p22"/>
          <p:cNvSpPr txBox="1"/>
          <p:nvPr/>
        </p:nvSpPr>
        <p:spPr>
          <a:xfrm>
            <a:off x="571500" y="3671887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chemeClr val="accent6">
                    <a:lumMod val="75000"/>
                  </a:schemeClr>
                </a:solidFill>
                <a:latin typeface="+mn-lt"/>
                <a:ea typeface="Montserrat"/>
                <a:cs typeface="Montserrat"/>
                <a:sym typeface="Montserrat"/>
              </a:rPr>
              <a:t>Bảo </a:t>
            </a:r>
            <a:r>
              <a:rPr lang="en-US" sz="1404" b="1" i="0" u="none" strike="noStrike" cap="none" dirty="0" err="1">
                <a:solidFill>
                  <a:schemeClr val="accent6">
                    <a:lumMod val="75000"/>
                  </a:schemeClr>
                </a:solidFill>
                <a:latin typeface="+mn-lt"/>
                <a:ea typeface="Montserrat"/>
                <a:cs typeface="Montserrat"/>
                <a:sym typeface="Montserrat"/>
              </a:rPr>
              <a:t>mật</a:t>
            </a:r>
            <a:r>
              <a:rPr lang="en-US" sz="1404" b="1" i="0" u="none" strike="noStrike" cap="none" dirty="0">
                <a:solidFill>
                  <a:schemeClr val="accent6">
                    <a:lumMod val="75000"/>
                  </a:schemeClr>
                </a:solidFill>
                <a:latin typeface="+mn-lt"/>
                <a:ea typeface="Montserrat"/>
                <a:cs typeface="Montserrat"/>
                <a:sym typeface="Montserrat"/>
              </a:rPr>
              <a:t> </a:t>
            </a:r>
            <a:r>
              <a:rPr lang="en-US" sz="1404" b="1" i="0" u="none" strike="noStrike" cap="none" dirty="0" err="1">
                <a:solidFill>
                  <a:schemeClr val="accent6">
                    <a:lumMod val="75000"/>
                  </a:schemeClr>
                </a:solidFill>
                <a:latin typeface="+mn-lt"/>
                <a:ea typeface="Montserrat"/>
                <a:cs typeface="Montserrat"/>
                <a:sym typeface="Montserrat"/>
              </a:rPr>
              <a:t>thông</a:t>
            </a:r>
            <a:r>
              <a:rPr lang="en-US" sz="1404" b="1" i="0" u="none" strike="noStrike" cap="none" dirty="0">
                <a:solidFill>
                  <a:schemeClr val="accent6">
                    <a:lumMod val="75000"/>
                  </a:schemeClr>
                </a:solidFill>
                <a:latin typeface="+mn-lt"/>
                <a:ea typeface="Montserrat"/>
                <a:cs typeface="Montserrat"/>
                <a:sym typeface="Montserrat"/>
              </a:rPr>
              <a:t> tin</a:t>
            </a:r>
            <a:endParaRPr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06" name="Google Shape;306;p22"/>
          <p:cNvSpPr txBox="1"/>
          <p:nvPr/>
        </p:nvSpPr>
        <p:spPr>
          <a:xfrm>
            <a:off x="857250" y="4081462"/>
            <a:ext cx="5000625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Nghiêm cấm chia sẻ thông tin hệ thống, khách hàng.</a:t>
            </a:r>
            <a:endParaRPr>
              <a:latin typeface="+mn-lt"/>
            </a:endParaRPr>
          </a:p>
        </p:txBody>
      </p:sp>
      <p:sp>
        <p:nvSpPr>
          <p:cNvPr id="307" name="Google Shape;307;p22"/>
          <p:cNvSpPr txBox="1"/>
          <p:nvPr/>
        </p:nvSpPr>
        <p:spPr>
          <a:xfrm>
            <a:off x="857250" y="4481512"/>
            <a:ext cx="5000625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Thông tin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dự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án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cần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được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1" i="0" u="none" strike="noStrike" cap="none" dirty="0" err="1">
                <a:solidFill>
                  <a:srgbClr val="FF0000"/>
                </a:solidFill>
                <a:latin typeface="+mn-lt"/>
                <a:ea typeface="Open Sans"/>
                <a:cs typeface="Open Sans"/>
                <a:sym typeface="Open Sans"/>
              </a:rPr>
              <a:t>bảo</a:t>
            </a:r>
            <a:r>
              <a:rPr lang="en-US" sz="1350" b="1" i="0" u="none" strike="noStrike" cap="none" dirty="0">
                <a:solidFill>
                  <a:srgbClr val="FF0000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1" i="0" u="none" strike="noStrike" cap="none" dirty="0" err="1">
                <a:solidFill>
                  <a:srgbClr val="FF0000"/>
                </a:solidFill>
                <a:latin typeface="+mn-lt"/>
                <a:ea typeface="Open Sans"/>
                <a:cs typeface="Open Sans"/>
                <a:sym typeface="Open Sans"/>
              </a:rPr>
              <a:t>mật</a:t>
            </a:r>
            <a:r>
              <a:rPr lang="en-US" sz="1350" b="1" i="0" u="none" strike="noStrike" cap="none" dirty="0">
                <a:solidFill>
                  <a:srgbClr val="FF0000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1" i="0" u="none" strike="noStrike" cap="none" dirty="0" err="1">
                <a:solidFill>
                  <a:srgbClr val="FF0000"/>
                </a:solidFill>
                <a:latin typeface="+mn-lt"/>
                <a:ea typeface="Open Sans"/>
                <a:cs typeface="Open Sans"/>
                <a:sym typeface="Open Sans"/>
              </a:rPr>
              <a:t>tuyệt</a:t>
            </a:r>
            <a:r>
              <a:rPr lang="en-US" sz="1350" b="1" i="0" u="none" strike="noStrike" cap="none" dirty="0">
                <a:solidFill>
                  <a:srgbClr val="FF0000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1" i="0" u="none" strike="noStrike" cap="none" dirty="0" err="1">
                <a:solidFill>
                  <a:srgbClr val="FF0000"/>
                </a:solidFill>
                <a:latin typeface="+mn-lt"/>
                <a:ea typeface="Open Sans"/>
                <a:cs typeface="Open Sans"/>
                <a:sym typeface="Open Sans"/>
              </a:rPr>
              <a:t>đối</a:t>
            </a:r>
            <a:r>
              <a:rPr lang="en-US" sz="1350" b="0" i="0" u="none" strike="noStrike" cap="none" dirty="0">
                <a:solidFill>
                  <a:srgbClr val="FF0000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để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tránh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cạnh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tranh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không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lành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mạnh</a:t>
            </a:r>
            <a:r>
              <a:rPr lang="en-US" sz="1350" b="0" i="0" u="none" strike="noStrike" cap="none" dirty="0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.</a:t>
            </a:r>
            <a:endParaRPr dirty="0">
              <a:latin typeface="+mn-lt"/>
            </a:endParaRPr>
          </a:p>
        </p:txBody>
      </p:sp>
      <p:pic>
        <p:nvPicPr>
          <p:cNvPr id="309" name="Google Shape;309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11003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51008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8AD816F-40E0-2D1B-CF15-E776F6A0F0B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41608" y="0"/>
            <a:ext cx="1350392" cy="1347237"/>
          </a:xfrm>
          <a:prstGeom prst="rect">
            <a:avLst/>
          </a:prstGeom>
        </p:spPr>
      </p:pic>
      <p:sp>
        <p:nvSpPr>
          <p:cNvPr id="5" name="Google Shape;277;p21">
            <a:extLst>
              <a:ext uri="{FF2B5EF4-FFF2-40B4-BE49-F238E27FC236}">
                <a16:creationId xmlns:a16="http://schemas.microsoft.com/office/drawing/2014/main" id="{5AA71AE4-9C6C-37D8-EDB3-480A211338A4}"/>
              </a:ext>
            </a:extLst>
          </p:cNvPr>
          <p:cNvSpPr txBox="1"/>
          <p:nvPr/>
        </p:nvSpPr>
        <p:spPr>
          <a:xfrm>
            <a:off x="203200" y="238125"/>
            <a:ext cx="116205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dirty="0">
                <a:solidFill>
                  <a:schemeClr val="tx1"/>
                </a:solidFill>
                <a:latin typeface="+mn-lt"/>
                <a:ea typeface="Montserrat ExtraBold"/>
                <a:cs typeface="Montserrat ExtraBold"/>
                <a:sym typeface="Montserrat ExtraBold"/>
              </a:rPr>
              <a:t>6</a:t>
            </a:r>
            <a:r>
              <a:rPr lang="en-US" sz="3150" b="1" i="0" u="none" strike="noStrike" cap="none" dirty="0">
                <a:solidFill>
                  <a:schemeClr val="tx1"/>
                </a:solidFill>
                <a:latin typeface="+mn-lt"/>
                <a:ea typeface="Montserrat ExtraBold"/>
                <a:cs typeface="Montserrat ExtraBold"/>
                <a:sym typeface="Montserrat ExtraBold"/>
              </a:rPr>
              <a:t>. BẢO VỆ TÀI SẢN, BẢO MẬT THÔNG TIN</a:t>
            </a:r>
            <a:endParaRPr b="1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0"/>
            <a:ext cx="1428066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2"/>
          <p:cNvSpPr txBox="1"/>
          <p:nvPr/>
        </p:nvSpPr>
        <p:spPr>
          <a:xfrm>
            <a:off x="400049" y="257175"/>
            <a:ext cx="13611259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dirty="0">
                <a:solidFill>
                  <a:srgbClr val="263238"/>
                </a:solidFill>
                <a:latin typeface="+mn-lt"/>
                <a:ea typeface="Montserrat ExtraBold"/>
                <a:cs typeface="Montserrat ExtraBold"/>
                <a:sym typeface="Montserrat ExtraBold"/>
              </a:rPr>
              <a:t>7</a:t>
            </a:r>
            <a:r>
              <a:rPr lang="en-US" sz="3150" b="1" i="0" u="none" strike="noStrike" cap="none" dirty="0">
                <a:solidFill>
                  <a:srgbClr val="263238"/>
                </a:solidFill>
                <a:latin typeface="+mn-lt"/>
                <a:ea typeface="Montserrat ExtraBold"/>
                <a:cs typeface="Montserrat ExtraBold"/>
                <a:sym typeface="Montserrat ExtraBold"/>
              </a:rPr>
              <a:t>. An </a:t>
            </a:r>
            <a:r>
              <a:rPr lang="en-US" sz="3150" b="1" i="0" u="none" strike="noStrike" cap="none" dirty="0" err="1">
                <a:solidFill>
                  <a:srgbClr val="263238"/>
                </a:solidFill>
                <a:latin typeface="+mn-lt"/>
                <a:ea typeface="Montserrat ExtraBold"/>
                <a:cs typeface="Montserrat ExtraBold"/>
                <a:sym typeface="Montserrat ExtraBold"/>
              </a:rPr>
              <a:t>toàn</a:t>
            </a:r>
            <a:r>
              <a:rPr lang="en-US" sz="3150" b="1" i="0" u="none" strike="noStrike" cap="none" dirty="0">
                <a:solidFill>
                  <a:srgbClr val="263238"/>
                </a:solidFill>
                <a:latin typeface="+mn-lt"/>
                <a:ea typeface="Montserrat ExtraBold"/>
                <a:cs typeface="Montserrat ExtraBold"/>
                <a:sym typeface="Montserrat ExtraBold"/>
              </a:rPr>
              <a:t> </a:t>
            </a:r>
            <a:r>
              <a:rPr lang="en-US" sz="3150" b="1" i="0" u="none" strike="noStrike" cap="none" dirty="0" err="1">
                <a:solidFill>
                  <a:srgbClr val="263238"/>
                </a:solidFill>
                <a:latin typeface="+mn-lt"/>
                <a:ea typeface="Montserrat ExtraBold"/>
                <a:cs typeface="Montserrat ExtraBold"/>
                <a:sym typeface="Montserrat ExtraBold"/>
              </a:rPr>
              <a:t>lao</a:t>
            </a:r>
            <a:r>
              <a:rPr lang="en-US" sz="3150" b="1" i="0" u="none" strike="noStrike" cap="none" dirty="0">
                <a:solidFill>
                  <a:srgbClr val="263238"/>
                </a:solidFill>
                <a:latin typeface="+mn-lt"/>
                <a:ea typeface="Montserrat ExtraBold"/>
                <a:cs typeface="Montserrat ExtraBold"/>
                <a:sym typeface="Montserrat ExtraBold"/>
              </a:rPr>
              <a:t> </a:t>
            </a:r>
            <a:r>
              <a:rPr lang="en-US" sz="3150" b="1" i="0" u="none" strike="noStrike" cap="none" dirty="0" err="1">
                <a:solidFill>
                  <a:srgbClr val="263238"/>
                </a:solidFill>
                <a:latin typeface="+mn-lt"/>
                <a:ea typeface="Montserrat ExtraBold"/>
                <a:cs typeface="Montserrat ExtraBold"/>
                <a:sym typeface="Montserrat ExtraBold"/>
              </a:rPr>
              <a:t>động</a:t>
            </a:r>
            <a:r>
              <a:rPr lang="en-US" sz="3150" b="1" i="0" u="none" strike="noStrike" cap="none" dirty="0">
                <a:solidFill>
                  <a:srgbClr val="263238"/>
                </a:solidFill>
                <a:latin typeface="+mn-lt"/>
                <a:ea typeface="Montserrat ExtraBold"/>
                <a:cs typeface="Montserrat ExtraBold"/>
                <a:sym typeface="Montserrat ExtraBold"/>
              </a:rPr>
              <a:t>, </a:t>
            </a:r>
            <a:r>
              <a:rPr lang="en-US" sz="3150" b="1" i="0" u="none" strike="noStrike" cap="none" dirty="0" err="1">
                <a:solidFill>
                  <a:srgbClr val="263238"/>
                </a:solidFill>
                <a:latin typeface="+mn-lt"/>
                <a:ea typeface="Montserrat ExtraBold"/>
                <a:cs typeface="Montserrat ExtraBold"/>
                <a:sym typeface="Montserrat ExtraBold"/>
              </a:rPr>
              <a:t>vệ</a:t>
            </a:r>
            <a:r>
              <a:rPr lang="en-US" sz="3150" b="1" i="0" u="none" strike="noStrike" cap="none" dirty="0">
                <a:solidFill>
                  <a:srgbClr val="263238"/>
                </a:solidFill>
                <a:latin typeface="+mn-lt"/>
                <a:ea typeface="Montserrat ExtraBold"/>
                <a:cs typeface="Montserrat ExtraBold"/>
                <a:sym typeface="Montserrat ExtraBold"/>
              </a:rPr>
              <a:t> </a:t>
            </a:r>
            <a:r>
              <a:rPr lang="en-US" sz="3150" b="1" i="0" u="none" strike="noStrike" cap="none" dirty="0" err="1">
                <a:solidFill>
                  <a:srgbClr val="263238"/>
                </a:solidFill>
                <a:latin typeface="+mn-lt"/>
                <a:ea typeface="Montserrat ExtraBold"/>
                <a:cs typeface="Montserrat ExtraBold"/>
                <a:sym typeface="Montserrat ExtraBold"/>
              </a:rPr>
              <a:t>sinh</a:t>
            </a:r>
            <a:r>
              <a:rPr lang="en-US" sz="3150" b="1" i="0" u="none" strike="noStrike" cap="none" dirty="0">
                <a:solidFill>
                  <a:srgbClr val="263238"/>
                </a:solidFill>
                <a:latin typeface="+mn-lt"/>
                <a:ea typeface="Montserrat ExtraBold"/>
                <a:cs typeface="Montserrat ExtraBold"/>
                <a:sym typeface="Montserrat ExtraBold"/>
              </a:rPr>
              <a:t> </a:t>
            </a:r>
            <a:r>
              <a:rPr lang="en-US" sz="3150" b="1" i="0" u="none" strike="noStrike" cap="none" dirty="0" err="1">
                <a:solidFill>
                  <a:srgbClr val="263238"/>
                </a:solidFill>
                <a:latin typeface="+mn-lt"/>
                <a:ea typeface="Montserrat ExtraBold"/>
                <a:cs typeface="Montserrat ExtraBold"/>
                <a:sym typeface="Montserrat ExtraBold"/>
              </a:rPr>
              <a:t>lao</a:t>
            </a:r>
            <a:r>
              <a:rPr lang="en-US" sz="3150" b="1" i="0" u="none" strike="noStrike" cap="none" dirty="0">
                <a:solidFill>
                  <a:srgbClr val="263238"/>
                </a:solidFill>
                <a:latin typeface="+mn-lt"/>
                <a:ea typeface="Montserrat ExtraBold"/>
                <a:cs typeface="Montserrat ExtraBold"/>
                <a:sym typeface="Montserrat ExtraBold"/>
              </a:rPr>
              <a:t> </a:t>
            </a:r>
            <a:r>
              <a:rPr lang="en-US" sz="3150" b="1" i="0" u="none" strike="noStrike" cap="none" dirty="0" err="1">
                <a:solidFill>
                  <a:srgbClr val="263238"/>
                </a:solidFill>
                <a:latin typeface="+mn-lt"/>
                <a:ea typeface="Montserrat ExtraBold"/>
                <a:cs typeface="Montserrat ExtraBold"/>
                <a:sym typeface="Montserrat ExtraBold"/>
              </a:rPr>
              <a:t>động</a:t>
            </a:r>
            <a:endParaRPr b="1" dirty="0">
              <a:latin typeface="+mn-lt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E2EE9F2-997C-2ED8-7C32-1616DF8DCEBB}"/>
              </a:ext>
            </a:extLst>
          </p:cNvPr>
          <p:cNvSpPr/>
          <p:nvPr/>
        </p:nvSpPr>
        <p:spPr>
          <a:xfrm>
            <a:off x="869862" y="1322099"/>
            <a:ext cx="2552669" cy="113538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Quy 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định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 an 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toàn</a:t>
            </a:r>
            <a:endParaRPr lang="en-US" sz="2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023DAC-B67C-F002-C334-C47853FEB54C}"/>
              </a:ext>
            </a:extLst>
          </p:cNvPr>
          <p:cNvSpPr txBox="1"/>
          <p:nvPr/>
        </p:nvSpPr>
        <p:spPr>
          <a:xfrm>
            <a:off x="552450" y="2825968"/>
            <a:ext cx="37337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- </a:t>
            </a:r>
            <a:r>
              <a:rPr lang="en-US" dirty="0" err="1">
                <a:latin typeface="+mn-lt"/>
              </a:rPr>
              <a:t>Nhân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viên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cần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tuân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thủ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nghiêm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ngặt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các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quy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định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về</a:t>
            </a:r>
            <a:r>
              <a:rPr lang="en-US" dirty="0">
                <a:latin typeface="+mn-lt"/>
              </a:rPr>
              <a:t> an </a:t>
            </a:r>
            <a:r>
              <a:rPr lang="en-US" dirty="0" err="1">
                <a:latin typeface="+mn-lt"/>
              </a:rPr>
              <a:t>toàn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lao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động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khi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thực</a:t>
            </a:r>
            <a:endParaRPr lang="en-US" dirty="0">
              <a:latin typeface="+mn-lt"/>
            </a:endParaRPr>
          </a:p>
          <a:p>
            <a:r>
              <a:rPr lang="en-US" dirty="0" err="1">
                <a:latin typeface="+mn-lt"/>
              </a:rPr>
              <a:t>hiện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công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việc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bảo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trì</a:t>
            </a:r>
            <a:r>
              <a:rPr lang="en-US" dirty="0">
                <a:latin typeface="+mn-lt"/>
              </a:rPr>
              <a:t>, </a:t>
            </a:r>
            <a:r>
              <a:rPr lang="en-US" dirty="0" err="1">
                <a:latin typeface="+mn-lt"/>
              </a:rPr>
              <a:t>vận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hành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hệ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thống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điện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mặt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trời</a:t>
            </a:r>
            <a:endParaRPr lang="en-US" dirty="0">
              <a:latin typeface="+mn-lt"/>
            </a:endParaRPr>
          </a:p>
          <a:p>
            <a:endParaRPr lang="en-US" dirty="0">
              <a:solidFill>
                <a:schemeClr val="tx1"/>
              </a:solidFill>
              <a:latin typeface="+mn-lt"/>
            </a:endParaRPr>
          </a:p>
          <a:p>
            <a:r>
              <a:rPr lang="en-US" dirty="0">
                <a:latin typeface="+mn-lt"/>
              </a:rPr>
              <a:t>- </a:t>
            </a:r>
            <a:r>
              <a:rPr lang="vi-VN" dirty="0">
                <a:latin typeface="+mn-lt"/>
              </a:rPr>
              <a:t>Trang bị bảo hộ lao động phải được sử dụng đầy đủ trong suốt quá trình làm </a:t>
            </a:r>
            <a:endParaRPr lang="en-US" dirty="0">
              <a:latin typeface="+mn-lt"/>
            </a:endParaRPr>
          </a:p>
          <a:p>
            <a:r>
              <a:rPr lang="vi-VN" dirty="0">
                <a:latin typeface="+mn-lt"/>
              </a:rPr>
              <a:t>việc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A4E9013-4998-6B64-3047-3F7719FA3231}"/>
              </a:ext>
            </a:extLst>
          </p:cNvPr>
          <p:cNvSpPr/>
          <p:nvPr/>
        </p:nvSpPr>
        <p:spPr>
          <a:xfrm>
            <a:off x="8435691" y="1266175"/>
            <a:ext cx="2552669" cy="113538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</a:rPr>
              <a:t>Vệ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</a:rPr>
              <a:t>sinh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</a:rPr>
              <a:t>lao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</a:rPr>
              <a:t>động</a:t>
            </a:r>
            <a:endParaRPr lang="en-US" sz="18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 algn="ctr">
              <a:buNone/>
            </a:pP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F623E0-1D8C-2DF6-B2A9-77E63793264B}"/>
              </a:ext>
            </a:extLst>
          </p:cNvPr>
          <p:cNvSpPr txBox="1"/>
          <p:nvPr/>
        </p:nvSpPr>
        <p:spPr>
          <a:xfrm>
            <a:off x="6995353" y="2925808"/>
            <a:ext cx="543334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+mn-lt"/>
              </a:rPr>
              <a:t>- </a:t>
            </a:r>
            <a:r>
              <a:rPr lang="vi-VN" dirty="0">
                <a:latin typeface="+mn-lt"/>
              </a:rPr>
              <a:t>Sau khi hoàn thành công việc, </a:t>
            </a:r>
            <a:r>
              <a:rPr lang="en-US" dirty="0" err="1">
                <a:latin typeface="+mn-lt"/>
              </a:rPr>
              <a:t>vệ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sinh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khu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vực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làm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việc</a:t>
            </a:r>
            <a:r>
              <a:rPr lang="en-US" dirty="0">
                <a:latin typeface="+mn-lt"/>
              </a:rPr>
              <a:t> </a:t>
            </a:r>
            <a:r>
              <a:rPr lang="vi-VN" dirty="0">
                <a:latin typeface="+mn-lt"/>
              </a:rPr>
              <a:t>sạch sẽ, đảm</a:t>
            </a:r>
            <a:r>
              <a:rPr lang="en-US" dirty="0">
                <a:latin typeface="+mn-lt"/>
              </a:rPr>
              <a:t> </a:t>
            </a:r>
            <a:r>
              <a:rPr lang="vi-VN" dirty="0">
                <a:latin typeface="+mn-lt"/>
              </a:rPr>
              <a:t>bảo không để lại </a:t>
            </a:r>
            <a:endParaRPr lang="en-US" dirty="0">
              <a:latin typeface="+mn-lt"/>
            </a:endParaRPr>
          </a:p>
          <a:p>
            <a:r>
              <a:rPr lang="vi-VN" dirty="0">
                <a:latin typeface="+mn-lt"/>
              </a:rPr>
              <a:t>vật dụng gây nguy hiểm</a:t>
            </a:r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- K</a:t>
            </a:r>
            <a:r>
              <a:rPr lang="vi-VN" dirty="0">
                <a:latin typeface="+mn-lt"/>
              </a:rPr>
              <a:t>iểm tra kỹ lưỡng trước khi kết thúc công việc để đảm</a:t>
            </a:r>
            <a:r>
              <a:rPr lang="en-US" dirty="0">
                <a:latin typeface="+mn-lt"/>
              </a:rPr>
              <a:t> </a:t>
            </a:r>
            <a:r>
              <a:rPr lang="vi-VN" dirty="0">
                <a:latin typeface="+mn-lt"/>
              </a:rPr>
              <a:t>bảo an toàn </a:t>
            </a:r>
            <a:endParaRPr lang="en-US" dirty="0">
              <a:latin typeface="+mn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F1ECBB-E594-4604-6F56-BBE9F929B6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0272" y="70112"/>
            <a:ext cx="1350392" cy="134723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314450"/>
            <a:ext cx="5334000" cy="497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314450"/>
            <a:ext cx="5334000" cy="497205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27"/>
          <p:cNvSpPr/>
          <p:nvPr/>
        </p:nvSpPr>
        <p:spPr>
          <a:xfrm>
            <a:off x="581025" y="1323975"/>
            <a:ext cx="5314950" cy="638175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7"/>
          <p:cNvSpPr txBox="1"/>
          <p:nvPr/>
        </p:nvSpPr>
        <p:spPr>
          <a:xfrm>
            <a:off x="771525" y="1514475"/>
            <a:ext cx="493395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+mn-lt"/>
                <a:ea typeface="Open Sans"/>
                <a:cs typeface="Open Sans"/>
                <a:sym typeface="Open Sans"/>
              </a:rPr>
              <a:t>QUÊN CHẤM CÔNG</a:t>
            </a:r>
            <a:endParaRPr>
              <a:latin typeface="+mn-lt"/>
            </a:endParaRPr>
          </a:p>
        </p:txBody>
      </p:sp>
      <p:sp>
        <p:nvSpPr>
          <p:cNvPr id="371" name="Google Shape;371;p27"/>
          <p:cNvSpPr/>
          <p:nvPr/>
        </p:nvSpPr>
        <p:spPr>
          <a:xfrm>
            <a:off x="6296025" y="1323975"/>
            <a:ext cx="5314950" cy="638175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7"/>
          <p:cNvSpPr txBox="1"/>
          <p:nvPr/>
        </p:nvSpPr>
        <p:spPr>
          <a:xfrm>
            <a:off x="6486525" y="1514475"/>
            <a:ext cx="493395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+mn-lt"/>
                <a:ea typeface="Open Sans"/>
                <a:cs typeface="Open Sans"/>
                <a:sym typeface="Open Sans"/>
              </a:rPr>
              <a:t>ĐI MUỘN / VỀ SỚM</a:t>
            </a:r>
            <a:endParaRPr>
              <a:latin typeface="+mn-lt"/>
            </a:endParaRPr>
          </a:p>
        </p:txBody>
      </p:sp>
      <p:pic>
        <p:nvPicPr>
          <p:cNvPr id="373" name="Google Shape;373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74985" y="1552575"/>
            <a:ext cx="232117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27"/>
          <p:cNvSpPr txBox="1"/>
          <p:nvPr/>
        </p:nvSpPr>
        <p:spPr>
          <a:xfrm>
            <a:off x="819150" y="2690812"/>
            <a:ext cx="48387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7474F"/>
                </a:solidFill>
                <a:latin typeface="+mn-lt"/>
                <a:ea typeface="Open Sans"/>
                <a:cs typeface="Open Sans"/>
                <a:sym typeface="Open Sans"/>
              </a:rPr>
              <a:t>Quy định:</a:t>
            </a:r>
            <a:r>
              <a:rPr lang="en-US" sz="1200" b="0" i="0" u="none" strike="noStrike" cap="none">
                <a:solidFill>
                  <a:srgbClr val="37474F"/>
                </a:solidFill>
                <a:latin typeface="+mn-lt"/>
                <a:ea typeface="Open Sans"/>
                <a:cs typeface="Open Sans"/>
                <a:sym typeface="Open Sans"/>
              </a:rPr>
              <a:t> Chấm vào &amp; ra đầy đủ.</a:t>
            </a:r>
            <a:endParaRPr>
              <a:latin typeface="+mn-lt"/>
            </a:endParaRPr>
          </a:p>
        </p:txBody>
      </p:sp>
      <p:sp>
        <p:nvSpPr>
          <p:cNvPr id="375" name="Google Shape;375;p27"/>
          <p:cNvSpPr/>
          <p:nvPr/>
        </p:nvSpPr>
        <p:spPr>
          <a:xfrm>
            <a:off x="819150" y="3138487"/>
            <a:ext cx="483870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pic>
        <p:nvPicPr>
          <p:cNvPr id="376" name="Google Shape;376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53936" y="153352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27"/>
          <p:cNvSpPr txBox="1"/>
          <p:nvPr/>
        </p:nvSpPr>
        <p:spPr>
          <a:xfrm>
            <a:off x="6534150" y="2786062"/>
            <a:ext cx="48387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7474F"/>
                </a:solidFill>
                <a:latin typeface="+mn-lt"/>
                <a:ea typeface="Open Sans"/>
                <a:cs typeface="Open Sans"/>
                <a:sym typeface="Open Sans"/>
              </a:rPr>
              <a:t>Quy định:</a:t>
            </a:r>
            <a:r>
              <a:rPr lang="en-US" sz="1200" b="0" i="0" u="none" strike="noStrike" cap="none">
                <a:solidFill>
                  <a:srgbClr val="37474F"/>
                </a:solidFill>
                <a:latin typeface="+mn-lt"/>
                <a:ea typeface="Open Sans"/>
                <a:cs typeface="Open Sans"/>
                <a:sym typeface="Open Sans"/>
              </a:rPr>
              <a:t> VP (8h00 - 17h00).</a:t>
            </a:r>
            <a:endParaRPr>
              <a:latin typeface="+mn-lt"/>
            </a:endParaRPr>
          </a:p>
        </p:txBody>
      </p:sp>
      <p:sp>
        <p:nvSpPr>
          <p:cNvPr id="378" name="Google Shape;378;p27"/>
          <p:cNvSpPr/>
          <p:nvPr/>
        </p:nvSpPr>
        <p:spPr>
          <a:xfrm>
            <a:off x="6534150" y="3233737"/>
            <a:ext cx="483870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7"/>
          <p:cNvSpPr txBox="1"/>
          <p:nvPr/>
        </p:nvSpPr>
        <p:spPr>
          <a:xfrm>
            <a:off x="819150" y="3668925"/>
            <a:ext cx="48387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D32F2F"/>
                </a:solidFill>
                <a:latin typeface="+mn-lt"/>
                <a:ea typeface="Open Sans ExtraBold"/>
                <a:cs typeface="Open Sans ExtraBold"/>
                <a:sym typeface="Open Sans ExtraBold"/>
              </a:rPr>
              <a:t>- 200.000 KPI / lần</a:t>
            </a:r>
            <a:endParaRPr>
              <a:latin typeface="+mn-lt"/>
            </a:endParaRPr>
          </a:p>
        </p:txBody>
      </p:sp>
      <p:sp>
        <p:nvSpPr>
          <p:cNvPr id="380" name="Google Shape;380;p27"/>
          <p:cNvSpPr txBox="1"/>
          <p:nvPr/>
        </p:nvSpPr>
        <p:spPr>
          <a:xfrm>
            <a:off x="819150" y="4767604"/>
            <a:ext cx="48387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32F2F"/>
                </a:solidFill>
                <a:latin typeface="+mn-lt"/>
                <a:ea typeface="Open Sans ExtraBold"/>
                <a:cs typeface="Open Sans ExtraBold"/>
                <a:sym typeface="Open Sans ExtraBold"/>
              </a:rPr>
              <a:t>KHÔNG TÍNH CÔNG</a:t>
            </a:r>
            <a:endParaRPr>
              <a:latin typeface="+mn-lt"/>
            </a:endParaRPr>
          </a:p>
        </p:txBody>
      </p:sp>
      <p:sp>
        <p:nvSpPr>
          <p:cNvPr id="381" name="Google Shape;381;p27"/>
          <p:cNvSpPr txBox="1"/>
          <p:nvPr/>
        </p:nvSpPr>
        <p:spPr>
          <a:xfrm>
            <a:off x="6534150" y="3764175"/>
            <a:ext cx="48387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>
                <a:solidFill>
                  <a:srgbClr val="D32F2F"/>
                </a:solidFill>
                <a:latin typeface="+mn-lt"/>
                <a:ea typeface="Open Sans ExtraBold"/>
                <a:cs typeface="Open Sans ExtraBold"/>
                <a:sym typeface="Open Sans ExtraBold"/>
              </a:rPr>
              <a:t>- 50.000 KPI / </a:t>
            </a:r>
            <a:r>
              <a:rPr lang="en-US" sz="2700" b="0" i="0" u="none" strike="noStrike" cap="none" dirty="0" err="1">
                <a:solidFill>
                  <a:srgbClr val="D32F2F"/>
                </a:solidFill>
                <a:latin typeface="+mn-lt"/>
                <a:ea typeface="Open Sans ExtraBold"/>
                <a:cs typeface="Open Sans ExtraBold"/>
                <a:sym typeface="Open Sans ExtraBold"/>
              </a:rPr>
              <a:t>lần</a:t>
            </a:r>
            <a:endParaRPr dirty="0">
              <a:latin typeface="+mn-lt"/>
            </a:endParaRPr>
          </a:p>
        </p:txBody>
      </p:sp>
      <p:sp>
        <p:nvSpPr>
          <p:cNvPr id="382" name="Google Shape;382;p27"/>
          <p:cNvSpPr txBox="1"/>
          <p:nvPr/>
        </p:nvSpPr>
        <p:spPr>
          <a:xfrm>
            <a:off x="6534150" y="4862125"/>
            <a:ext cx="48387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32F2F"/>
                </a:solidFill>
                <a:latin typeface="+mn-lt"/>
                <a:ea typeface="Open Sans ExtraBold"/>
                <a:cs typeface="Open Sans ExtraBold"/>
                <a:sym typeface="Open Sans ExtraBold"/>
              </a:rPr>
              <a:t>50k + 10k / phút</a:t>
            </a:r>
            <a:endParaRPr>
              <a:latin typeface="+mn-lt"/>
            </a:endParaRPr>
          </a:p>
        </p:txBody>
      </p:sp>
      <p:sp>
        <p:nvSpPr>
          <p:cNvPr id="383" name="Google Shape;383;p27"/>
          <p:cNvSpPr txBox="1"/>
          <p:nvPr/>
        </p:nvSpPr>
        <p:spPr>
          <a:xfrm>
            <a:off x="476250" y="238638"/>
            <a:ext cx="116205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chemeClr val="tx1"/>
                </a:solidFill>
                <a:latin typeface="+mn-lt"/>
                <a:ea typeface="Montserrat ExtraBold"/>
                <a:cs typeface="Montserrat ExtraBold"/>
                <a:sym typeface="Montserrat ExtraBold"/>
              </a:rPr>
              <a:t>8.1 XỬ PHẠT CHẤM CÔNG</a:t>
            </a:r>
            <a:endParaRPr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84" name="Google Shape;384;p27"/>
          <p:cNvSpPr/>
          <p:nvPr/>
        </p:nvSpPr>
        <p:spPr>
          <a:xfrm>
            <a:off x="571500" y="1123950"/>
            <a:ext cx="762000" cy="5715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7"/>
          <p:cNvSpPr txBox="1"/>
          <p:nvPr/>
        </p:nvSpPr>
        <p:spPr>
          <a:xfrm>
            <a:off x="633046" y="5348287"/>
            <a:ext cx="5024804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1" u="none" strike="noStrike" cap="none" dirty="0">
                <a:solidFill>
                  <a:srgbClr val="888888"/>
                </a:solidFill>
                <a:latin typeface="+mn-lt"/>
                <a:ea typeface="Open Sans"/>
                <a:cs typeface="Open Sans"/>
                <a:sym typeface="Open Sans"/>
              </a:rPr>
              <a:t>* </a:t>
            </a:r>
            <a:r>
              <a:rPr lang="en-US" sz="1050" b="0" i="1" u="none" strike="noStrike" cap="none" dirty="0" err="1">
                <a:solidFill>
                  <a:srgbClr val="888888"/>
                </a:solidFill>
                <a:latin typeface="+mn-lt"/>
                <a:ea typeface="Open Sans"/>
                <a:cs typeface="Open Sans"/>
                <a:sym typeface="Open Sans"/>
              </a:rPr>
              <a:t>Được</a:t>
            </a:r>
            <a:r>
              <a:rPr lang="en-US" sz="1050" b="0" i="1" u="none" strike="noStrike" cap="none" dirty="0">
                <a:solidFill>
                  <a:srgbClr val="888888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050" b="0" i="1" u="none" strike="noStrike" cap="none" dirty="0" err="1">
                <a:solidFill>
                  <a:srgbClr val="888888"/>
                </a:solidFill>
                <a:latin typeface="+mn-lt"/>
                <a:ea typeface="Open Sans"/>
                <a:cs typeface="Open Sans"/>
                <a:sym typeface="Open Sans"/>
              </a:rPr>
              <a:t>giải</a:t>
            </a:r>
            <a:r>
              <a:rPr lang="en-US" sz="1050" b="0" i="1" u="none" strike="noStrike" cap="none" dirty="0">
                <a:solidFill>
                  <a:srgbClr val="888888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050" b="0" i="1" u="none" strike="noStrike" cap="none" dirty="0" err="1">
                <a:solidFill>
                  <a:srgbClr val="888888"/>
                </a:solidFill>
                <a:latin typeface="+mn-lt"/>
                <a:ea typeface="Open Sans"/>
                <a:cs typeface="Open Sans"/>
                <a:sym typeface="Open Sans"/>
              </a:rPr>
              <a:t>trình</a:t>
            </a:r>
            <a:r>
              <a:rPr lang="en-US" sz="1050" b="0" i="1" u="none" strike="noStrike" cap="none" dirty="0">
                <a:solidFill>
                  <a:srgbClr val="888888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050" b="0" i="1" u="none" strike="noStrike" cap="none" dirty="0" err="1">
                <a:solidFill>
                  <a:srgbClr val="888888"/>
                </a:solidFill>
                <a:latin typeface="+mn-lt"/>
                <a:ea typeface="Open Sans"/>
                <a:cs typeface="Open Sans"/>
                <a:sym typeface="Open Sans"/>
              </a:rPr>
              <a:t>tối</a:t>
            </a:r>
            <a:r>
              <a:rPr lang="en-US" sz="1050" b="0" i="1" u="none" strike="noStrike" cap="none" dirty="0">
                <a:solidFill>
                  <a:srgbClr val="888888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050" b="0" i="1" u="none" strike="noStrike" cap="none" dirty="0" err="1">
                <a:solidFill>
                  <a:srgbClr val="888888"/>
                </a:solidFill>
                <a:latin typeface="+mn-lt"/>
                <a:ea typeface="Open Sans"/>
                <a:cs typeface="Open Sans"/>
                <a:sym typeface="Open Sans"/>
              </a:rPr>
              <a:t>đa</a:t>
            </a:r>
            <a:r>
              <a:rPr lang="en-US" sz="1050" b="0" i="1" u="none" strike="noStrike" cap="none" dirty="0">
                <a:solidFill>
                  <a:srgbClr val="888888"/>
                </a:solidFill>
                <a:latin typeface="+mn-lt"/>
                <a:ea typeface="Open Sans"/>
                <a:cs typeface="Open Sans"/>
                <a:sym typeface="Open Sans"/>
              </a:rPr>
              <a:t> 01 </a:t>
            </a:r>
            <a:r>
              <a:rPr lang="en-US" sz="1050" b="0" i="1" u="none" strike="noStrike" cap="none" dirty="0" err="1">
                <a:solidFill>
                  <a:srgbClr val="888888"/>
                </a:solidFill>
                <a:latin typeface="+mn-lt"/>
                <a:ea typeface="Open Sans"/>
                <a:cs typeface="Open Sans"/>
                <a:sym typeface="Open Sans"/>
              </a:rPr>
              <a:t>lần</a:t>
            </a:r>
            <a:r>
              <a:rPr lang="en-US" sz="1050" b="0" i="1" u="none" strike="noStrike" cap="none" dirty="0">
                <a:solidFill>
                  <a:srgbClr val="888888"/>
                </a:solidFill>
                <a:latin typeface="+mn-lt"/>
                <a:ea typeface="Open Sans"/>
                <a:cs typeface="Open Sans"/>
                <a:sym typeface="Open Sans"/>
              </a:rPr>
              <a:t>/</a:t>
            </a:r>
            <a:r>
              <a:rPr lang="en-US" sz="1050" b="0" i="1" u="none" strike="noStrike" cap="none" dirty="0" err="1">
                <a:solidFill>
                  <a:srgbClr val="888888"/>
                </a:solidFill>
                <a:latin typeface="+mn-lt"/>
                <a:ea typeface="Open Sans"/>
                <a:cs typeface="Open Sans"/>
                <a:sym typeface="Open Sans"/>
              </a:rPr>
              <a:t>tháng</a:t>
            </a:r>
            <a:r>
              <a:rPr lang="en-US" sz="1050" i="1" dirty="0">
                <a:solidFill>
                  <a:srgbClr val="888888"/>
                </a:solidFill>
                <a:latin typeface="+mn-lt"/>
                <a:ea typeface="Open Sans"/>
                <a:cs typeface="Open Sans"/>
                <a:sym typeface="Open Sans"/>
              </a:rPr>
              <a:t> + 1 </a:t>
            </a:r>
            <a:r>
              <a:rPr lang="en-US" sz="1050" i="1" dirty="0" err="1">
                <a:solidFill>
                  <a:srgbClr val="888888"/>
                </a:solidFill>
                <a:latin typeface="+mn-lt"/>
                <a:ea typeface="Open Sans"/>
                <a:cs typeface="Open Sans"/>
                <a:sym typeface="Open Sans"/>
              </a:rPr>
              <a:t>lần</a:t>
            </a:r>
            <a:r>
              <a:rPr lang="en-US" sz="1050" i="1" dirty="0">
                <a:solidFill>
                  <a:srgbClr val="888888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050" i="1" dirty="0" err="1">
                <a:solidFill>
                  <a:srgbClr val="888888"/>
                </a:solidFill>
                <a:latin typeface="+mn-lt"/>
                <a:ea typeface="Open Sans"/>
                <a:cs typeface="Open Sans"/>
                <a:sym typeface="Open Sans"/>
              </a:rPr>
              <a:t>giải</a:t>
            </a:r>
            <a:r>
              <a:rPr lang="en-US" sz="1050" i="1" dirty="0">
                <a:solidFill>
                  <a:srgbClr val="888888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050" i="1" dirty="0" err="1">
                <a:solidFill>
                  <a:srgbClr val="888888"/>
                </a:solidFill>
                <a:latin typeface="+mn-lt"/>
                <a:ea typeface="Open Sans"/>
                <a:cs typeface="Open Sans"/>
                <a:sym typeface="Open Sans"/>
              </a:rPr>
              <a:t>trình</a:t>
            </a:r>
            <a:r>
              <a:rPr lang="en-US" sz="1050" i="1" dirty="0">
                <a:solidFill>
                  <a:srgbClr val="888888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050" i="1" dirty="0" err="1">
                <a:solidFill>
                  <a:srgbClr val="888888"/>
                </a:solidFill>
                <a:latin typeface="+mn-lt"/>
                <a:ea typeface="Open Sans"/>
                <a:cs typeface="Open Sans"/>
                <a:sym typeface="Open Sans"/>
              </a:rPr>
              <a:t>khác</a:t>
            </a:r>
            <a:r>
              <a:rPr lang="en-US" sz="1050" i="1" dirty="0">
                <a:solidFill>
                  <a:srgbClr val="888888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050" i="1" dirty="0" err="1">
                <a:solidFill>
                  <a:srgbClr val="888888"/>
                </a:solidFill>
                <a:latin typeface="+mn-lt"/>
                <a:ea typeface="Open Sans"/>
                <a:cs typeface="Open Sans"/>
                <a:sym typeface="Open Sans"/>
              </a:rPr>
              <a:t>có</a:t>
            </a:r>
            <a:r>
              <a:rPr lang="en-US" sz="1050" i="1" dirty="0">
                <a:solidFill>
                  <a:srgbClr val="888888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050" i="1" dirty="0" err="1">
                <a:solidFill>
                  <a:srgbClr val="888888"/>
                </a:solidFill>
                <a:latin typeface="+mn-lt"/>
                <a:ea typeface="Open Sans"/>
                <a:cs typeface="Open Sans"/>
                <a:sym typeface="Open Sans"/>
              </a:rPr>
              <a:t>hình</a:t>
            </a:r>
            <a:r>
              <a:rPr lang="en-US" sz="1050" i="1" dirty="0">
                <a:solidFill>
                  <a:srgbClr val="888888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050" i="1" dirty="0" err="1">
                <a:solidFill>
                  <a:srgbClr val="888888"/>
                </a:solidFill>
                <a:latin typeface="+mn-lt"/>
                <a:ea typeface="Open Sans"/>
                <a:cs typeface="Open Sans"/>
                <a:sym typeface="Open Sans"/>
              </a:rPr>
              <a:t>ảnh</a:t>
            </a:r>
            <a:r>
              <a:rPr lang="en-US" sz="1050" i="1" dirty="0">
                <a:solidFill>
                  <a:srgbClr val="888888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050" i="1" dirty="0" err="1">
                <a:solidFill>
                  <a:srgbClr val="888888"/>
                </a:solidFill>
                <a:latin typeface="+mn-lt"/>
                <a:ea typeface="Open Sans"/>
                <a:cs typeface="Open Sans"/>
                <a:sym typeface="Open Sans"/>
              </a:rPr>
              <a:t>minh</a:t>
            </a:r>
            <a:r>
              <a:rPr lang="en-US" sz="1050" i="1" dirty="0">
                <a:solidFill>
                  <a:srgbClr val="888888"/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050" i="1" dirty="0" err="1">
                <a:solidFill>
                  <a:srgbClr val="888888"/>
                </a:solidFill>
                <a:latin typeface="+mn-lt"/>
                <a:ea typeface="Open Sans"/>
                <a:cs typeface="Open Sans"/>
                <a:sym typeface="Open Sans"/>
              </a:rPr>
              <a:t>chứng</a:t>
            </a:r>
            <a:endParaRPr dirty="0">
              <a:latin typeface="+mn-lt"/>
            </a:endParaRPr>
          </a:p>
        </p:txBody>
      </p:sp>
      <p:sp>
        <p:nvSpPr>
          <p:cNvPr id="386" name="Google Shape;386;p27"/>
          <p:cNvSpPr txBox="1"/>
          <p:nvPr/>
        </p:nvSpPr>
        <p:spPr>
          <a:xfrm>
            <a:off x="819150" y="3290887"/>
            <a:ext cx="483870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Quên chấm vào HOẶC ra:</a:t>
            </a:r>
            <a:endParaRPr>
              <a:latin typeface="+mn-lt"/>
            </a:endParaRPr>
          </a:p>
        </p:txBody>
      </p:sp>
      <p:sp>
        <p:nvSpPr>
          <p:cNvPr id="387" name="Google Shape;387;p27"/>
          <p:cNvSpPr txBox="1"/>
          <p:nvPr/>
        </p:nvSpPr>
        <p:spPr>
          <a:xfrm>
            <a:off x="819150" y="4395787"/>
            <a:ext cx="483870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Quên chấm cả vào VÀ ra:</a:t>
            </a:r>
            <a:endParaRPr>
              <a:latin typeface="+mn-lt"/>
            </a:endParaRPr>
          </a:p>
        </p:txBody>
      </p:sp>
      <p:sp>
        <p:nvSpPr>
          <p:cNvPr id="388" name="Google Shape;388;p27"/>
          <p:cNvSpPr txBox="1"/>
          <p:nvPr/>
        </p:nvSpPr>
        <p:spPr>
          <a:xfrm>
            <a:off x="6534150" y="3386137"/>
            <a:ext cx="483870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Từ 1 - 5 phút:</a:t>
            </a:r>
            <a:endParaRPr>
              <a:latin typeface="+mn-lt"/>
            </a:endParaRPr>
          </a:p>
        </p:txBody>
      </p:sp>
      <p:sp>
        <p:nvSpPr>
          <p:cNvPr id="389" name="Google Shape;389;p27"/>
          <p:cNvSpPr txBox="1"/>
          <p:nvPr/>
        </p:nvSpPr>
        <p:spPr>
          <a:xfrm>
            <a:off x="6534150" y="4491037"/>
            <a:ext cx="483870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Trên 5 phút:</a:t>
            </a:r>
            <a:endParaRPr>
              <a:latin typeface="+mn-lt"/>
            </a:endParaRPr>
          </a:p>
        </p:txBody>
      </p:sp>
      <p:sp>
        <p:nvSpPr>
          <p:cNvPr id="390" name="Google Shape;390;p27"/>
          <p:cNvSpPr txBox="1"/>
          <p:nvPr/>
        </p:nvSpPr>
        <p:spPr>
          <a:xfrm>
            <a:off x="6534150" y="5253037"/>
            <a:ext cx="4838700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32F2F"/>
                </a:solidFill>
                <a:latin typeface="+mn-lt"/>
                <a:ea typeface="Open Sans"/>
                <a:cs typeface="Open Sans"/>
                <a:sym typeface="Open Sans"/>
              </a:rPr>
              <a:t>(Tối đa -200k / ngày)</a:t>
            </a:r>
            <a:endParaRPr>
              <a:latin typeface="+mn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314450"/>
            <a:ext cx="3492400" cy="497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1314450"/>
            <a:ext cx="3492549" cy="497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7950" y="1314450"/>
            <a:ext cx="3492400" cy="497205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8"/>
          <p:cNvSpPr/>
          <p:nvPr/>
        </p:nvSpPr>
        <p:spPr>
          <a:xfrm>
            <a:off x="581025" y="1323975"/>
            <a:ext cx="3473350" cy="638175"/>
          </a:xfrm>
          <a:prstGeom prst="rect">
            <a:avLst/>
          </a:prstGeom>
          <a:solidFill>
            <a:srgbClr val="263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8"/>
          <p:cNvSpPr txBox="1"/>
          <p:nvPr/>
        </p:nvSpPr>
        <p:spPr>
          <a:xfrm>
            <a:off x="771525" y="1514475"/>
            <a:ext cx="309235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+mn-lt"/>
                <a:ea typeface="Open Sans"/>
                <a:cs typeface="Open Sans"/>
                <a:sym typeface="Open Sans"/>
              </a:rPr>
              <a:t>DỰ ÁN</a:t>
            </a:r>
            <a:endParaRPr dirty="0">
              <a:latin typeface="+mn-lt"/>
            </a:endParaRPr>
          </a:p>
        </p:txBody>
      </p:sp>
      <p:sp>
        <p:nvSpPr>
          <p:cNvPr id="403" name="Google Shape;403;p28"/>
          <p:cNvSpPr/>
          <p:nvPr/>
        </p:nvSpPr>
        <p:spPr>
          <a:xfrm>
            <a:off x="4359175" y="1323975"/>
            <a:ext cx="3473499" cy="638175"/>
          </a:xfrm>
          <a:prstGeom prst="rect">
            <a:avLst/>
          </a:prstGeom>
          <a:solidFill>
            <a:srgbClr val="263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8"/>
          <p:cNvSpPr txBox="1"/>
          <p:nvPr/>
        </p:nvSpPr>
        <p:spPr>
          <a:xfrm>
            <a:off x="4549675" y="1514475"/>
            <a:ext cx="3092499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+mn-lt"/>
                <a:ea typeface="Open Sans"/>
                <a:cs typeface="Open Sans"/>
                <a:sym typeface="Open Sans"/>
              </a:rPr>
              <a:t>VĂN PHÒNG</a:t>
            </a:r>
            <a:endParaRPr>
              <a:latin typeface="+mn-lt"/>
            </a:endParaRPr>
          </a:p>
        </p:txBody>
      </p:sp>
      <p:sp>
        <p:nvSpPr>
          <p:cNvPr id="405" name="Google Shape;405;p28"/>
          <p:cNvSpPr/>
          <p:nvPr/>
        </p:nvSpPr>
        <p:spPr>
          <a:xfrm>
            <a:off x="8137475" y="1323975"/>
            <a:ext cx="3473350" cy="638175"/>
          </a:xfrm>
          <a:prstGeom prst="rect">
            <a:avLst/>
          </a:prstGeom>
          <a:solidFill>
            <a:srgbClr val="263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8"/>
          <p:cNvSpPr txBox="1"/>
          <p:nvPr/>
        </p:nvSpPr>
        <p:spPr>
          <a:xfrm>
            <a:off x="8327975" y="1514475"/>
            <a:ext cx="309235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+mn-lt"/>
                <a:ea typeface="Open Sans"/>
                <a:cs typeface="Open Sans"/>
                <a:sym typeface="Open Sans"/>
              </a:rPr>
              <a:t>KỸ THUẬT</a:t>
            </a:r>
            <a:endParaRPr>
              <a:latin typeface="+mn-lt"/>
            </a:endParaRPr>
          </a:p>
        </p:txBody>
      </p:sp>
      <p:pic>
        <p:nvPicPr>
          <p:cNvPr id="407" name="Google Shape;407;p2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705755" y="1533525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28"/>
          <p:cNvSpPr txBox="1"/>
          <p:nvPr/>
        </p:nvSpPr>
        <p:spPr>
          <a:xfrm>
            <a:off x="819150" y="4364250"/>
            <a:ext cx="29971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D32F2F"/>
                </a:solidFill>
                <a:latin typeface="+mn-lt"/>
                <a:ea typeface="Open Sans ExtraBold"/>
                <a:cs typeface="Open Sans ExtraBold"/>
                <a:sym typeface="Open Sans ExtraBold"/>
              </a:rPr>
              <a:t>- 200k / lần</a:t>
            </a:r>
            <a:endParaRPr>
              <a:latin typeface="+mn-lt"/>
            </a:endParaRPr>
          </a:p>
        </p:txBody>
      </p:sp>
      <p:pic>
        <p:nvPicPr>
          <p:cNvPr id="409" name="Google Shape;409;p2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182037" y="1533525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2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098449" y="1547812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28"/>
          <p:cNvSpPr txBox="1"/>
          <p:nvPr/>
        </p:nvSpPr>
        <p:spPr>
          <a:xfrm>
            <a:off x="8375600" y="4133269"/>
            <a:ext cx="29971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D32F2F"/>
                </a:solidFill>
                <a:latin typeface="+mn-lt"/>
                <a:ea typeface="Open Sans ExtraBold"/>
                <a:cs typeface="Open Sans ExtraBold"/>
                <a:sym typeface="Open Sans ExtraBold"/>
              </a:rPr>
              <a:t>TRỪ KPI</a:t>
            </a:r>
            <a:endParaRPr>
              <a:latin typeface="+mn-lt"/>
            </a:endParaRPr>
          </a:p>
        </p:txBody>
      </p:sp>
      <p:sp>
        <p:nvSpPr>
          <p:cNvPr id="412" name="Google Shape;412;p28"/>
          <p:cNvSpPr txBox="1"/>
          <p:nvPr/>
        </p:nvSpPr>
        <p:spPr>
          <a:xfrm>
            <a:off x="4597300" y="3757225"/>
            <a:ext cx="299724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32F2F"/>
                </a:solidFill>
                <a:latin typeface="+mn-lt"/>
                <a:ea typeface="Open Sans ExtraBold"/>
                <a:cs typeface="Open Sans ExtraBold"/>
                <a:sym typeface="Open Sans ExtraBold"/>
              </a:rPr>
              <a:t>- 100k</a:t>
            </a:r>
            <a:endParaRPr>
              <a:latin typeface="+mn-lt"/>
            </a:endParaRPr>
          </a:p>
        </p:txBody>
      </p:sp>
      <p:sp>
        <p:nvSpPr>
          <p:cNvPr id="413" name="Google Shape;413;p28"/>
          <p:cNvSpPr txBox="1"/>
          <p:nvPr/>
        </p:nvSpPr>
        <p:spPr>
          <a:xfrm>
            <a:off x="4597300" y="4757350"/>
            <a:ext cx="299724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32F2F"/>
                </a:solidFill>
                <a:latin typeface="+mn-lt"/>
                <a:ea typeface="Open Sans ExtraBold"/>
                <a:cs typeface="Open Sans ExtraBold"/>
                <a:sym typeface="Open Sans ExtraBold"/>
              </a:rPr>
              <a:t>- 200k</a:t>
            </a:r>
            <a:endParaRPr>
              <a:latin typeface="+mn-lt"/>
            </a:endParaRPr>
          </a:p>
        </p:txBody>
      </p:sp>
      <p:sp>
        <p:nvSpPr>
          <p:cNvPr id="414" name="Google Shape;414;p28"/>
          <p:cNvSpPr txBox="1"/>
          <p:nvPr/>
        </p:nvSpPr>
        <p:spPr>
          <a:xfrm>
            <a:off x="515229" y="195263"/>
            <a:ext cx="116205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chemeClr val="tx1"/>
                </a:solidFill>
                <a:latin typeface="+mn-lt"/>
                <a:ea typeface="Montserrat ExtraBold"/>
                <a:cs typeface="Montserrat ExtraBold"/>
                <a:sym typeface="Montserrat ExtraBold"/>
              </a:rPr>
              <a:t>8.2 XỬ PHẠT BÁO CÁO</a:t>
            </a:r>
            <a:endParaRPr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15" name="Google Shape;415;p28"/>
          <p:cNvSpPr/>
          <p:nvPr/>
        </p:nvSpPr>
        <p:spPr>
          <a:xfrm>
            <a:off x="571500" y="1123950"/>
            <a:ext cx="762000" cy="5715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8"/>
          <p:cNvSpPr txBox="1"/>
          <p:nvPr/>
        </p:nvSpPr>
        <p:spPr>
          <a:xfrm>
            <a:off x="819150" y="3338512"/>
            <a:ext cx="299710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chemeClr val="accent6">
                    <a:lumMod val="75000"/>
                  </a:schemeClr>
                </a:solidFill>
                <a:latin typeface="+mn-lt"/>
                <a:ea typeface="Open Sans"/>
                <a:cs typeface="Open Sans"/>
                <a:sym typeface="Open Sans"/>
              </a:rPr>
              <a:t>Báo </a:t>
            </a:r>
            <a:r>
              <a:rPr lang="en-US" sz="1350" b="1" i="0" u="none" strike="noStrike" cap="none" dirty="0" err="1">
                <a:solidFill>
                  <a:schemeClr val="accent6">
                    <a:lumMod val="75000"/>
                  </a:schemeClr>
                </a:solidFill>
                <a:latin typeface="+mn-lt"/>
                <a:ea typeface="Open Sans"/>
                <a:cs typeface="Open Sans"/>
                <a:sym typeface="Open Sans"/>
              </a:rPr>
              <a:t>cáo</a:t>
            </a:r>
            <a:r>
              <a:rPr lang="en-US" sz="1350" b="1" i="0" u="none" strike="noStrike" cap="none" dirty="0">
                <a:solidFill>
                  <a:schemeClr val="accent6">
                    <a:lumMod val="75000"/>
                  </a:schemeClr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1" i="0" u="none" strike="noStrike" cap="none" dirty="0" err="1">
                <a:solidFill>
                  <a:schemeClr val="accent6">
                    <a:lumMod val="75000"/>
                  </a:schemeClr>
                </a:solidFill>
                <a:latin typeface="+mn-lt"/>
                <a:ea typeface="Open Sans"/>
                <a:cs typeface="Open Sans"/>
                <a:sym typeface="Open Sans"/>
              </a:rPr>
              <a:t>số</a:t>
            </a:r>
            <a:r>
              <a:rPr lang="en-US" sz="1350" b="1" i="0" u="none" strike="noStrike" cap="none" dirty="0">
                <a:solidFill>
                  <a:schemeClr val="accent6">
                    <a:lumMod val="75000"/>
                  </a:schemeClr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1" i="0" u="none" strike="noStrike" cap="none" dirty="0" err="1">
                <a:solidFill>
                  <a:schemeClr val="accent6">
                    <a:lumMod val="75000"/>
                  </a:schemeClr>
                </a:solidFill>
                <a:latin typeface="+mn-lt"/>
                <a:ea typeface="Open Sans"/>
                <a:cs typeface="Open Sans"/>
                <a:sym typeface="Open Sans"/>
              </a:rPr>
              <a:t>liệu</a:t>
            </a:r>
            <a:endParaRPr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17" name="Google Shape;417;p28"/>
          <p:cNvSpPr txBox="1"/>
          <p:nvPr/>
        </p:nvSpPr>
        <p:spPr>
          <a:xfrm>
            <a:off x="819150" y="3690937"/>
            <a:ext cx="29971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Gian dối (Báo "Đã gửi" nhưng chưa gửi CĐT)</a:t>
            </a:r>
            <a:endParaRPr>
              <a:latin typeface="+mn-lt"/>
            </a:endParaRPr>
          </a:p>
        </p:txBody>
      </p:sp>
      <p:sp>
        <p:nvSpPr>
          <p:cNvPr id="418" name="Google Shape;418;p28"/>
          <p:cNvSpPr txBox="1"/>
          <p:nvPr/>
        </p:nvSpPr>
        <p:spPr>
          <a:xfrm>
            <a:off x="4597300" y="3090862"/>
            <a:ext cx="2997249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chemeClr val="accent6">
                    <a:lumMod val="75000"/>
                  </a:schemeClr>
                </a:solidFill>
                <a:latin typeface="+mn-lt"/>
                <a:ea typeface="Open Sans"/>
                <a:cs typeface="Open Sans"/>
                <a:sym typeface="Open Sans"/>
              </a:rPr>
              <a:t>Báo </a:t>
            </a:r>
            <a:r>
              <a:rPr lang="en-US" sz="1350" b="1" i="0" u="none" strike="noStrike" cap="none" dirty="0" err="1">
                <a:solidFill>
                  <a:schemeClr val="accent6">
                    <a:lumMod val="75000"/>
                  </a:schemeClr>
                </a:solidFill>
                <a:latin typeface="+mn-lt"/>
                <a:ea typeface="Open Sans"/>
                <a:cs typeface="Open Sans"/>
                <a:sym typeface="Open Sans"/>
              </a:rPr>
              <a:t>cáo</a:t>
            </a:r>
            <a:r>
              <a:rPr lang="en-US" sz="1350" b="1" i="0" u="none" strike="noStrike" cap="none" dirty="0">
                <a:solidFill>
                  <a:schemeClr val="accent6">
                    <a:lumMod val="75000"/>
                  </a:schemeClr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1" i="0" u="none" strike="noStrike" cap="none" dirty="0" err="1">
                <a:solidFill>
                  <a:schemeClr val="accent6">
                    <a:lumMod val="75000"/>
                  </a:schemeClr>
                </a:solidFill>
                <a:latin typeface="+mn-lt"/>
                <a:ea typeface="Open Sans"/>
                <a:cs typeface="Open Sans"/>
                <a:sym typeface="Open Sans"/>
              </a:rPr>
              <a:t>trước</a:t>
            </a:r>
            <a:r>
              <a:rPr lang="en-US" sz="1350" b="1" i="0" u="none" strike="noStrike" cap="none" dirty="0">
                <a:solidFill>
                  <a:schemeClr val="accent6">
                    <a:lumMod val="75000"/>
                  </a:schemeClr>
                </a:solidFill>
                <a:latin typeface="+mn-lt"/>
                <a:ea typeface="Open Sans"/>
                <a:cs typeface="Open Sans"/>
                <a:sym typeface="Open Sans"/>
              </a:rPr>
              <a:t> 10:00</a:t>
            </a:r>
            <a:endParaRPr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19" name="Google Shape;419;p28"/>
          <p:cNvSpPr txBox="1"/>
          <p:nvPr/>
        </p:nvSpPr>
        <p:spPr>
          <a:xfrm>
            <a:off x="8375600" y="3336131"/>
            <a:ext cx="299710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chemeClr val="accent6">
                    <a:lumMod val="75000"/>
                  </a:schemeClr>
                </a:solidFill>
                <a:latin typeface="+mn-lt"/>
                <a:ea typeface="Open Sans"/>
                <a:cs typeface="Open Sans"/>
                <a:sym typeface="Open Sans"/>
              </a:rPr>
              <a:t>Checklist </a:t>
            </a:r>
            <a:r>
              <a:rPr lang="en-US" sz="1350" b="1" i="0" u="none" strike="noStrike" cap="none" dirty="0" err="1">
                <a:solidFill>
                  <a:schemeClr val="accent6">
                    <a:lumMod val="75000"/>
                  </a:schemeClr>
                </a:solidFill>
                <a:latin typeface="+mn-lt"/>
                <a:ea typeface="Open Sans"/>
                <a:cs typeface="Open Sans"/>
                <a:sym typeface="Open Sans"/>
              </a:rPr>
              <a:t>Hàng</a:t>
            </a:r>
            <a:r>
              <a:rPr lang="en-US" sz="1350" b="1" i="0" u="none" strike="noStrike" cap="none" dirty="0">
                <a:solidFill>
                  <a:schemeClr val="accent6">
                    <a:lumMod val="75000"/>
                  </a:schemeClr>
                </a:solidFill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en-US" sz="1350" b="1" i="0" u="none" strike="noStrike" cap="none" dirty="0" err="1">
                <a:solidFill>
                  <a:schemeClr val="accent6">
                    <a:lumMod val="75000"/>
                  </a:schemeClr>
                </a:solidFill>
                <a:latin typeface="+mn-lt"/>
                <a:ea typeface="Open Sans"/>
                <a:cs typeface="Open Sans"/>
                <a:sym typeface="Open Sans"/>
              </a:rPr>
              <a:t>Ngày</a:t>
            </a:r>
            <a:endParaRPr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20" name="Google Shape;420;p28"/>
          <p:cNvSpPr txBox="1"/>
          <p:nvPr/>
        </p:nvSpPr>
        <p:spPr>
          <a:xfrm>
            <a:off x="8375600" y="3688556"/>
            <a:ext cx="29971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Không gửi Checklist / Thiếu ảnh thực tế</a:t>
            </a:r>
            <a:endParaRPr>
              <a:latin typeface="+mn-lt"/>
            </a:endParaRPr>
          </a:p>
        </p:txBody>
      </p:sp>
      <p:sp>
        <p:nvSpPr>
          <p:cNvPr id="421" name="Google Shape;421;p28"/>
          <p:cNvSpPr txBox="1"/>
          <p:nvPr/>
        </p:nvSpPr>
        <p:spPr>
          <a:xfrm>
            <a:off x="8375600" y="4717256"/>
            <a:ext cx="2997100" cy="22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32F2F"/>
                </a:solidFill>
                <a:latin typeface="+mn-lt"/>
                <a:ea typeface="Open Sans"/>
                <a:cs typeface="Open Sans"/>
                <a:sym typeface="Open Sans"/>
              </a:rPr>
              <a:t>(Xử lý kỷ luật nếu nghiêm trọng)</a:t>
            </a:r>
            <a:endParaRPr>
              <a:latin typeface="+mn-lt"/>
            </a:endParaRPr>
          </a:p>
        </p:txBody>
      </p:sp>
      <p:sp>
        <p:nvSpPr>
          <p:cNvPr id="422" name="Google Shape;422;p28"/>
          <p:cNvSpPr txBox="1"/>
          <p:nvPr/>
        </p:nvSpPr>
        <p:spPr>
          <a:xfrm>
            <a:off x="4597300" y="3443287"/>
            <a:ext cx="2997249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Nộp muộn (10h-12h)</a:t>
            </a:r>
            <a:endParaRPr>
              <a:latin typeface="+mn-lt"/>
            </a:endParaRPr>
          </a:p>
        </p:txBody>
      </p:sp>
      <p:sp>
        <p:nvSpPr>
          <p:cNvPr id="423" name="Google Shape;423;p28"/>
          <p:cNvSpPr txBox="1"/>
          <p:nvPr/>
        </p:nvSpPr>
        <p:spPr>
          <a:xfrm>
            <a:off x="4597300" y="4443412"/>
            <a:ext cx="2997249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333"/>
                </a:solidFill>
                <a:latin typeface="+mn-lt"/>
                <a:ea typeface="Open Sans"/>
                <a:cs typeface="Open Sans"/>
                <a:sym typeface="Open Sans"/>
              </a:rPr>
              <a:t>Sau 12h / Không nộp</a:t>
            </a:r>
            <a:endParaRPr>
              <a:latin typeface="+mn-l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238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5"/>
          <p:cNvSpPr/>
          <p:nvPr/>
        </p:nvSpPr>
        <p:spPr>
          <a:xfrm>
            <a:off x="5619750" y="4276725"/>
            <a:ext cx="952500" cy="47625"/>
          </a:xfrm>
          <a:prstGeom prst="roundRect">
            <a:avLst>
              <a:gd name="adj" fmla="val 50000"/>
            </a:avLst>
          </a:prstGeom>
          <a:solidFill>
            <a:srgbClr val="FF6D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5"/>
          <p:cNvSpPr txBox="1"/>
          <p:nvPr/>
        </p:nvSpPr>
        <p:spPr>
          <a:xfrm>
            <a:off x="3570684" y="2428875"/>
            <a:ext cx="5050631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THANK YOU</a:t>
            </a:r>
            <a:endParaRPr/>
          </a:p>
        </p:txBody>
      </p:sp>
      <p:sp>
        <p:nvSpPr>
          <p:cNvPr id="329" name="Google Shape;329;p25"/>
          <p:cNvSpPr txBox="1"/>
          <p:nvPr/>
        </p:nvSpPr>
        <p:spPr>
          <a:xfrm>
            <a:off x="3895725" y="4705350"/>
            <a:ext cx="44005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FD8DC"/>
                </a:solidFill>
                <a:latin typeface="Open Sans"/>
                <a:ea typeface="Open Sans"/>
                <a:cs typeface="Open Sans"/>
                <a:sym typeface="Open Sans"/>
              </a:rPr>
              <a:t>CÔNG TY TNHH CÔNG NGHỆ CAO ELECTRIC BIRD</a:t>
            </a:r>
            <a:endParaRPr/>
          </a:p>
        </p:txBody>
      </p:sp>
      <p:sp>
        <p:nvSpPr>
          <p:cNvPr id="330" name="Google Shape;330;p25"/>
          <p:cNvSpPr txBox="1"/>
          <p:nvPr/>
        </p:nvSpPr>
        <p:spPr>
          <a:xfrm>
            <a:off x="5343525" y="1866900"/>
            <a:ext cx="183832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ELECTRIC BIRD</a:t>
            </a:r>
            <a:endParaRPr/>
          </a:p>
        </p:txBody>
      </p:sp>
      <p:pic>
        <p:nvPicPr>
          <p:cNvPr id="2" name="Google Shape;400;p28" descr="image.png">
            <a:extLst>
              <a:ext uri="{FF2B5EF4-FFF2-40B4-BE49-F238E27FC236}">
                <a16:creationId xmlns:a16="http://schemas.microsoft.com/office/drawing/2014/main" id="{1BB3C6DC-3B7C-8F44-6C87-DF6699EFD9F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94030" y="1885950"/>
            <a:ext cx="238125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ài liệu" ma:contentTypeID="0x010100A5416BA6A202D749A2711CE67F32EE1E" ma:contentTypeVersion="14" ma:contentTypeDescription="Tạo tài liệu mới." ma:contentTypeScope="" ma:versionID="93e44bdd9119815a3fa500997b365c11">
  <xsd:schema xmlns:xsd="http://www.w3.org/2001/XMLSchema" xmlns:xs="http://www.w3.org/2001/XMLSchema" xmlns:p="http://schemas.microsoft.com/office/2006/metadata/properties" xmlns:ns2="79b7cc5e-c0fa-4b6d-a16f-f265c3bb9ae0" xmlns:ns3="86838acf-3eed-48db-b0e2-eb17db51bdf2" targetNamespace="http://schemas.microsoft.com/office/2006/metadata/properties" ma:root="true" ma:fieldsID="54ca5c77eadfd76e9039fb6f902407d8" ns2:_="" ns3:_="">
    <xsd:import namespace="79b7cc5e-c0fa-4b6d-a16f-f265c3bb9ae0"/>
    <xsd:import namespace="86838acf-3eed-48db-b0e2-eb17db51bdf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b7cc5e-c0fa-4b6d-a16f-f265c3bb9ae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Thẻ Hình ảnh" ma:readOnly="false" ma:fieldId="{5cf76f15-5ced-4ddc-b409-7134ff3c332f}" ma:taxonomyMulti="true" ma:sspId="d9cec3ce-eba8-47ca-ae0d-18e14a23082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838acf-3eed-48db-b0e2-eb17db51bdf2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23350cd-5143-41f1-91d2-b4ccc928fed7}" ma:internalName="TaxCatchAll" ma:showField="CatchAllData" ma:web="86838acf-3eed-48db-b0e2-eb17db51bd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Loại Nội dung"/>
        <xsd:element ref="dc:title" minOccurs="0" maxOccurs="1" ma:index="4" ma:displayName="Tiêu đề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9b7cc5e-c0fa-4b6d-a16f-f265c3bb9ae0">
      <Terms xmlns="http://schemas.microsoft.com/office/infopath/2007/PartnerControls"/>
    </lcf76f155ced4ddcb4097134ff3c332f>
    <TaxCatchAll xmlns="86838acf-3eed-48db-b0e2-eb17db51bdf2" xsi:nil="true"/>
  </documentManagement>
</p:properties>
</file>

<file path=customXml/itemProps1.xml><?xml version="1.0" encoding="utf-8"?>
<ds:datastoreItem xmlns:ds="http://schemas.openxmlformats.org/officeDocument/2006/customXml" ds:itemID="{A9F2F0F5-FCAA-443D-BACD-D14843693739}"/>
</file>

<file path=customXml/itemProps2.xml><?xml version="1.0" encoding="utf-8"?>
<ds:datastoreItem xmlns:ds="http://schemas.openxmlformats.org/officeDocument/2006/customXml" ds:itemID="{3A25740F-9572-43D8-94A8-F696ECF1AD7F}"/>
</file>

<file path=customXml/itemProps3.xml><?xml version="1.0" encoding="utf-8"?>
<ds:datastoreItem xmlns:ds="http://schemas.openxmlformats.org/officeDocument/2006/customXml" ds:itemID="{67D2FBD1-6D50-4BA9-9181-C57C95257A9A}"/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1332</Words>
  <Application>Microsoft Office PowerPoint</Application>
  <PresentationFormat>Widescreen</PresentationFormat>
  <Paragraphs>170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Calibri</vt:lpstr>
      <vt:lpstr>Neue Einstellung</vt:lpstr>
      <vt:lpstr>Montserrat</vt:lpstr>
      <vt:lpstr>Arial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Ho Hien</dc:creator>
  <cp:lastModifiedBy>Ho Hien</cp:lastModifiedBy>
  <cp:revision>3</cp:revision>
  <dcterms:modified xsi:type="dcterms:W3CDTF">2026-04-23T01:54:38Z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0x010100A5416BA6A202D749A2711CE67F32EE1E</vt:lpwstr>
  </property>
</Properties>
</file>